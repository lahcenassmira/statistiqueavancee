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1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eg"/><Relationship Id="rId3" Type="http://schemas.openxmlformats.org/officeDocument/2006/relationships/image" Target="../media/image21.jpeg"/><Relationship Id="rId4" Type="http://schemas.openxmlformats.org/officeDocument/2006/relationships/image" Target="../media/image2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jpeg"/><Relationship Id="rId4" Type="http://schemas.openxmlformats.org/officeDocument/2006/relationships/image" Target="../media/image25.jpeg"/><Relationship Id="rId5" Type="http://schemas.openxmlformats.org/officeDocument/2006/relationships/image" Target="../media/image26.jpeg"/><Relationship Id="rId6" Type="http://schemas.openxmlformats.org/officeDocument/2006/relationships/image" Target="../media/image27.jpeg"/><Relationship Id="rId7" Type="http://schemas.openxmlformats.org/officeDocument/2006/relationships/image" Target="../media/image28.jpeg"/><Relationship Id="rId8" Type="http://schemas.openxmlformats.org/officeDocument/2006/relationships/image" Target="../media/image2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eg"/><Relationship Id="rId3" Type="http://schemas.openxmlformats.org/officeDocument/2006/relationships/image" Target="../media/image31.jpeg"/><Relationship Id="rId4" Type="http://schemas.openxmlformats.org/officeDocument/2006/relationships/image" Target="../media/image32.jpeg"/><Relationship Id="rId5" Type="http://schemas.openxmlformats.org/officeDocument/2006/relationships/image" Target="../media/image33.jpeg"/><Relationship Id="rId6" Type="http://schemas.openxmlformats.org/officeDocument/2006/relationships/image" Target="../media/image34.jpeg"/><Relationship Id="rId7" Type="http://schemas.openxmlformats.org/officeDocument/2006/relationships/image" Target="../media/image35.jpeg"/><Relationship Id="rId8" Type="http://schemas.openxmlformats.org/officeDocument/2006/relationships/image" Target="../media/image36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jpeg"/><Relationship Id="rId3" Type="http://schemas.openxmlformats.org/officeDocument/2006/relationships/image" Target="../media/image38.jpeg"/><Relationship Id="rId4" Type="http://schemas.openxmlformats.org/officeDocument/2006/relationships/image" Target="../media/image39.jpeg"/><Relationship Id="rId5" Type="http://schemas.openxmlformats.org/officeDocument/2006/relationships/image" Target="../media/image40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jpeg"/><Relationship Id="rId3" Type="http://schemas.openxmlformats.org/officeDocument/2006/relationships/image" Target="../media/image42.jpeg"/><Relationship Id="rId4" Type="http://schemas.openxmlformats.org/officeDocument/2006/relationships/image" Target="../media/image43.jpeg"/><Relationship Id="rId5" Type="http://schemas.openxmlformats.org/officeDocument/2006/relationships/image" Target="../media/image44.jpeg"/><Relationship Id="rId6" Type="http://schemas.openxmlformats.org/officeDocument/2006/relationships/image" Target="../media/image45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eg"/><Relationship Id="rId3" Type="http://schemas.openxmlformats.org/officeDocument/2006/relationships/image" Target="../media/image47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jpeg"/><Relationship Id="rId3" Type="http://schemas.openxmlformats.org/officeDocument/2006/relationships/image" Target="../media/image49.jpeg"/><Relationship Id="rId4" Type="http://schemas.openxmlformats.org/officeDocument/2006/relationships/image" Target="../media/image50.jpeg"/><Relationship Id="rId5" Type="http://schemas.openxmlformats.org/officeDocument/2006/relationships/image" Target="../media/image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9065"/>
            <a:ext cx="5480060" cy="6807182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6070619" y="879503"/>
            <a:ext cx="5621020" cy="4239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75"/>
              </a:lnSpc>
              <a:tabLst/>
            </a:pPr>
            <a:r>
              <a:rPr sz="33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Au-delà des ch</a:t>
            </a:r>
            <a:r>
              <a:rPr sz="33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iffres:Révéler</a:t>
            </a:r>
            <a:endParaRPr sz="3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53"/>
              </a:lnSpc>
              <a:tabLst/>
            </a:pPr>
            <a:r>
              <a:rPr sz="33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 facteurs</a:t>
            </a:r>
            <a:r>
              <a:rPr sz="33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humain</a:t>
            </a:r>
            <a:r>
              <a:rPr sz="33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 et</a:t>
            </a:r>
            <a:endParaRPr sz="3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292"/>
              </a:spcBef>
              <a:tabLst/>
            </a:pPr>
            <a:r>
              <a:rPr sz="33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environnementaux des</a:t>
            </a:r>
            <a:endParaRPr sz="3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spcBef>
                <a:spcPts val="71"/>
              </a:spcBef>
              <a:tabLst/>
            </a:pPr>
            <a:r>
              <a:rPr sz="33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 d</a:t>
            </a:r>
            <a:r>
              <a:rPr sz="33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33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33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 aux</a:t>
            </a:r>
            <a:endParaRPr sz="3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3"/>
              </a:spcBef>
              <a:tabLst/>
            </a:pPr>
            <a:r>
              <a:rPr sz="3300" b="1" kern="0" spc="-120" dirty="0">
                <a:solidFill>
                  <a:srgbClr val="102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États-Unis</a:t>
            </a:r>
            <a:endParaRPr sz="3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24"/>
              </a:lnSpc>
              <a:spcBef>
                <a:spcPts val="703"/>
              </a:spcBef>
              <a:tabLst/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Une analyse approfondie</a:t>
            </a: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200" kern="0" spc="-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7,7</a:t>
            </a:r>
            <a:r>
              <a:rPr sz="22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millions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10"/>
              </a:spcBef>
              <a:tabLst/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d'accidents  (2016-2023)pour</a:t>
            </a:r>
            <a:r>
              <a:rPr sz="22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une</a:t>
            </a:r>
            <a:r>
              <a:rPr sz="22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préven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plus efficace et d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 vies</a:t>
            </a: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épargnées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301750" indent="-1289050" algn="l" rtl="0" eaLnBrk="0">
              <a:lnSpc>
                <a:spcPct val="97000"/>
              </a:lnSpc>
              <a:spcBef>
                <a:spcPts val="1548"/>
              </a:spcBef>
              <a:tabLst/>
            </a:pPr>
            <a:r>
              <a:rPr sz="2000" kern="0" spc="-10" baseline="-1041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000" b="1" kern="0" spc="-10" baseline="-10417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Projet:</a:t>
            </a: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Analyse Statistique Avancée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des Accidents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aux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Etats-Unis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2"/>
              </a:lnSpc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</a:t>
            </a: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Public  Cible:</a:t>
            </a:r>
            <a:r>
              <a:rPr sz="13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Grand  public,décideurs,parties  prenantes  non</a:t>
            </a:r>
            <a:r>
              <a:rPr sz="13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hniques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2"/>
              </a:lnSpc>
              <a:tabLst/>
            </a:pPr>
            <a:r>
              <a:rPr sz="2000" kern="0" spc="-10" baseline="-1143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000" b="1" kern="0" spc="-10" baseline="-1143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Date:</a:t>
            </a: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Janv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ier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070620" y="6321729"/>
            <a:ext cx="3607434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71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Data-Driven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Insights for Safer Roads and Saved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Lives.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0718819" y="5472412"/>
            <a:ext cx="732155" cy="723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48"/>
              </a:lnSpc>
              <a:tabLst/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2016-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2748"/>
              </a:lnSpc>
              <a:tabLst/>
            </a:pPr>
            <a:r>
              <a:rPr sz="2200" kern="0" spc="-20" dirty="0">
                <a:solidFill>
                  <a:srgbClr val="102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endParaRPr sz="2200" dirty="0">
              <a:latin typeface="Arial"/>
              <a:ea typeface="Arial"/>
              <a:cs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66080" y="5499087"/>
            <a:ext cx="774679" cy="590542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83320" y="5505465"/>
            <a:ext cx="749320" cy="603229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007559" y="5461025"/>
            <a:ext cx="615939" cy="68580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908820" y="5645228"/>
            <a:ext cx="716915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2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7.7M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71"/>
              </a:lnSpc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9029741" y="5647197"/>
            <a:ext cx="485775" cy="474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1000"/>
              </a:lnSpc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49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28"/>
              </a:spcBef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States</a:t>
            </a:r>
            <a:endParaRPr sz="1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609579" y="5039383"/>
            <a:ext cx="10179050" cy="993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80"/>
              </a:lnSpc>
              <a:tabLst/>
            </a:pPr>
            <a:r>
              <a:rPr sz="2700" kern="0" spc="-5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·Une crise de santé publiqu</a:t>
            </a:r>
            <a:r>
              <a:rPr sz="2700" kern="0" spc="-6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700" kern="0" spc="13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6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majeure,souvent sous-estimée</a:t>
            </a:r>
            <a:endParaRPr sz="2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680"/>
              </a:lnSpc>
              <a:spcBef>
                <a:spcPts val="255"/>
              </a:spcBef>
              <a:tabLst/>
            </a:pPr>
            <a:r>
              <a:rPr sz="2700" kern="0" spc="-7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·Des couts humains et sociaux incommensurabl</a:t>
            </a:r>
            <a:r>
              <a:rPr sz="2700" kern="0" spc="-8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2700" kern="0" spc="5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8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au-delà</a:t>
            </a:r>
            <a:r>
              <a:rPr sz="2700" kern="0" spc="5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8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2700" kern="0" spc="6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8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chiffres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8402741" y="2255819"/>
            <a:ext cx="3030854" cy="2221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44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/\</a:t>
            </a:r>
            <a:r>
              <a:rPr sz="4400" kern="0" spc="-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500" b="1" kern="0" spc="-9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7,7</a:t>
            </a:r>
            <a:endParaRPr sz="6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109"/>
              </a:spcBef>
              <a:tabLst/>
            </a:pPr>
            <a:r>
              <a:rPr sz="5000" b="1" kern="0" spc="-18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millions</a:t>
            </a:r>
            <a:endParaRPr sz="5000" dirty="0">
              <a:latin typeface="Arial"/>
              <a:ea typeface="Arial"/>
              <a:cs typeface="Arial"/>
            </a:endParaRPr>
          </a:p>
          <a:p>
            <a:pPr marL="842644" algn="l" rtl="0" eaLnBrk="0">
              <a:lnSpc>
                <a:spcPts val="1936"/>
              </a:lnSpc>
              <a:spcBef>
                <a:spcPts val="316"/>
              </a:spcBef>
              <a:tabLst/>
            </a:pPr>
            <a:r>
              <a:rPr sz="2700" b="1" kern="0" spc="-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d’accidents</a:t>
            </a:r>
            <a:endParaRPr sz="2700" dirty="0">
              <a:latin typeface="Arial"/>
              <a:ea typeface="Arial"/>
              <a:cs typeface="Arial"/>
            </a:endParaRPr>
          </a:p>
          <a:p>
            <a:pPr marL="817244" algn="l" rtl="0" eaLnBrk="0">
              <a:lnSpc>
                <a:spcPts val="3807"/>
              </a:lnSpc>
              <a:tabLst/>
            </a:pPr>
            <a:r>
              <a:rPr sz="2700" b="1" kern="0" spc="-40" dirty="0">
                <a:solidFill>
                  <a:srgbClr val="204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analysés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4622819" y="2476098"/>
            <a:ext cx="2992120" cy="1958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6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5200" b="1" kern="0" spc="-50" dirty="0">
                <a:solidFill>
                  <a:srgbClr val="E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340</a:t>
            </a:r>
            <a:endParaRPr sz="5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4000"/>
              </a:lnSpc>
              <a:spcBef>
                <a:spcPts val="47"/>
              </a:spcBef>
              <a:tabLst/>
            </a:pPr>
            <a:r>
              <a:rPr sz="5000" b="1" kern="0" spc="-14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milliards </a:t>
            </a:r>
            <a:r>
              <a:rPr sz="5000" b="1" kern="0" spc="-15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$</a:t>
            </a:r>
            <a:endParaRPr sz="5000" dirty="0">
              <a:latin typeface="Arial"/>
              <a:ea typeface="Arial"/>
              <a:cs typeface="Arial"/>
            </a:endParaRPr>
          </a:p>
          <a:p>
            <a:pPr marL="37465" indent="18415" algn="l" rtl="0" eaLnBrk="0">
              <a:lnSpc>
                <a:spcPct val="98000"/>
              </a:lnSpc>
              <a:spcBef>
                <a:spcPts val="44"/>
              </a:spcBef>
              <a:tabLst/>
            </a:pPr>
            <a:r>
              <a:rPr sz="2700" b="1" kern="0" spc="-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cout économique</a:t>
            </a:r>
            <a:r>
              <a:rPr sz="2700" b="1" kern="0" spc="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b="1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annuel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609579" y="732239"/>
            <a:ext cx="8941434" cy="570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3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44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 crise silencieuse sur</a:t>
            </a:r>
            <a:r>
              <a:rPr sz="4400" b="1" kern="0" spc="19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nos</a:t>
            </a:r>
            <a:r>
              <a:rPr sz="4400" b="1" kern="0" spc="2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4400" b="1" kern="0" spc="-1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outes</a:t>
            </a:r>
            <a:endParaRPr sz="4400" dirty="0">
              <a:latin typeface="Arial"/>
              <a:ea typeface="Arial"/>
              <a:cs typeface="Arial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09579" y="3035676"/>
            <a:ext cx="2335529" cy="1062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5000" b="1" kern="0" spc="0" dirty="0">
                <a:solidFill>
                  <a:srgbClr val="F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40901</a:t>
            </a:r>
            <a:endParaRPr sz="5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654"/>
              </a:spcBef>
              <a:tabLst/>
            </a:pPr>
            <a:r>
              <a:rPr sz="2700" b="1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décès en</a:t>
            </a:r>
            <a:r>
              <a:rPr sz="2700" b="1" kern="0" spc="1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3187700" y="2904406"/>
            <a:ext cx="734694" cy="689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5915" algn="l" rtl="0" eaLnBrk="0">
              <a:lnSpc>
                <a:spcPct val="79000"/>
              </a:lnSpc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435"/>
              </a:spcBef>
              <a:tabLst/>
            </a:pPr>
            <a:r>
              <a:rPr sz="2200" kern="0" spc="10" dirty="0">
                <a:solidFill>
                  <a:srgbClr val="3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-4,3%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87500" y="6165822"/>
            <a:ext cx="546079" cy="438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565200" y="531357"/>
            <a:ext cx="10452100" cy="5584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4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4100" b="1" kern="0" spc="-9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 aperçu</a:t>
            </a:r>
            <a:r>
              <a:rPr sz="4100" b="1" kern="0" spc="2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b="1" kern="0" spc="-9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4100" b="1" kern="0" spc="-10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ational des données</a:t>
            </a:r>
            <a:endParaRPr sz="4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2930"/>
              </a:lnSpc>
              <a:spcBef>
                <a:spcPts val="245"/>
              </a:spcBef>
              <a:tabLst/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Dataset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'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':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Une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vue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taill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incidents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routiers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collect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temps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02664" algn="l" rtl="0" eaLnBrk="0">
              <a:lnSpc>
                <a:spcPct val="80000"/>
              </a:lnSpc>
              <a:spcBef>
                <a:spcPts val="1236"/>
              </a:spcBef>
              <a:tabLst/>
            </a:pPr>
            <a:r>
              <a:rPr sz="4100" b="1" kern="0" spc="-130" dirty="0">
                <a:solidFill>
                  <a:srgbClr val="F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7,7</a:t>
            </a:r>
            <a:r>
              <a:rPr sz="4100" b="1" kern="0" spc="260" dirty="0">
                <a:solidFill>
                  <a:srgbClr val="F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b="1" kern="0" spc="-130" dirty="0">
                <a:solidFill>
                  <a:srgbClr val="F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millions</a:t>
            </a:r>
            <a:endParaRPr sz="4100" dirty="0">
              <a:latin typeface="Arial"/>
              <a:ea typeface="Arial"/>
              <a:cs typeface="Arial"/>
            </a:endParaRPr>
          </a:p>
          <a:p>
            <a:pPr marL="1021714" algn="l" rtl="0" eaLnBrk="0">
              <a:lnSpc>
                <a:spcPts val="3076"/>
              </a:lnSpc>
              <a:tabLst/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d'accidents analysés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21714" algn="l" rtl="0" eaLnBrk="0">
              <a:lnSpc>
                <a:spcPct val="96000"/>
              </a:lnSpc>
              <a:spcBef>
                <a:spcPts val="1230"/>
              </a:spcBef>
              <a:tabLst/>
            </a:pPr>
            <a:r>
              <a:rPr sz="4100" b="1" kern="0" spc="-16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49</a:t>
            </a:r>
            <a:r>
              <a:rPr sz="4100" b="1" kern="0" spc="26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100" b="1" kern="0" spc="-16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États</a:t>
            </a:r>
            <a:endParaRPr sz="4100" dirty="0">
              <a:latin typeface="Arial"/>
              <a:ea typeface="Arial"/>
              <a:cs typeface="Arial"/>
            </a:endParaRPr>
          </a:p>
          <a:p>
            <a:pPr marL="1021714" algn="l" rtl="0" eaLnBrk="0">
              <a:lnSpc>
                <a:spcPct val="82000"/>
              </a:lnSpc>
              <a:spcBef>
                <a:spcPts val="381"/>
              </a:spcBef>
              <a:tabLst/>
            </a:pP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couverts sur 50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21714" algn="l" rtl="0" eaLnBrk="0">
              <a:lnSpc>
                <a:spcPct val="75000"/>
              </a:lnSpc>
              <a:spcBef>
                <a:spcPts val="1234"/>
              </a:spcBef>
              <a:tabLst/>
            </a:pPr>
            <a:r>
              <a:rPr sz="4100" b="1" kern="0" spc="-130" dirty="0">
                <a:solidFill>
                  <a:srgbClr val="F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2016-2023</a:t>
            </a:r>
            <a:endParaRPr sz="4100" dirty="0">
              <a:latin typeface="Arial"/>
              <a:ea typeface="Arial"/>
              <a:cs typeface="Arial"/>
            </a:endParaRPr>
          </a:p>
          <a:p>
            <a:pPr marL="1021714" algn="l" rtl="0" eaLnBrk="0">
              <a:lnSpc>
                <a:spcPts val="3076"/>
              </a:lnSpc>
              <a:tabLst/>
            </a:pPr>
            <a:r>
              <a:rPr sz="2100" b="1" kern="0" spc="-30" dirty="0">
                <a:solidFill>
                  <a:srgbClr val="102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période d'analyse</a:t>
            </a:r>
            <a:endParaRPr sz="2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040" y="2063777"/>
            <a:ext cx="11156899" cy="3778209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520700" y="572835"/>
            <a:ext cx="9683115" cy="109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spcBef>
                <a:spcPts val="1"/>
              </a:spcBef>
              <a:tabLst/>
            </a:pPr>
            <a:r>
              <a:rPr sz="4000" b="1" kern="0" spc="-9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4000" b="1" kern="0" spc="23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9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 donné</a:t>
            </a:r>
            <a:r>
              <a:rPr sz="4000" b="1" kern="0" spc="-10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4000" b="1" kern="0" spc="21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10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brute à</a:t>
            </a:r>
            <a:r>
              <a:rPr sz="4000" b="1" kern="0" spc="24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10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l'insight actionnable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543"/>
              </a:lnSpc>
              <a:spcBef>
                <a:spcPts val="5"/>
              </a:spcBef>
              <a:tabLst/>
            </a:pP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Notre démarche analytique en</a:t>
            </a:r>
            <a:r>
              <a:rPr sz="26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quatre</a:t>
            </a:r>
            <a:r>
              <a:rPr sz="26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étapes</a:t>
            </a:r>
            <a:r>
              <a:rPr sz="26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clés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6483319" y="3749253"/>
            <a:ext cx="2094229" cy="1859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9000" algn="l" rtl="0" eaLnBrk="0">
              <a:lnSpc>
                <a:spcPts val="4770"/>
              </a:lnSpc>
              <a:tabLst/>
            </a:pPr>
            <a:r>
              <a:rPr sz="3500" kern="0" spc="-20" dirty="0">
                <a:solidFill>
                  <a:srgbClr val="E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3500" dirty="0">
              <a:latin typeface="Arial"/>
              <a:ea typeface="Arial"/>
              <a:cs typeface="Arial"/>
            </a:endParaRPr>
          </a:p>
          <a:p>
            <a:pPr marL="304800" algn="l" rtl="0" eaLnBrk="0">
              <a:lnSpc>
                <a:spcPct val="82000"/>
              </a:lnSpc>
              <a:spcBef>
                <a:spcPts val="1146"/>
              </a:spcBef>
              <a:tabLst/>
            </a:pPr>
            <a:r>
              <a:rPr sz="2000" b="1" kern="0" spc="-4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Modélisation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09600" indent="-596900" algn="l" rtl="0" eaLnBrk="0">
              <a:lnSpc>
                <a:spcPct val="109000"/>
              </a:lnSpc>
              <a:spcBef>
                <a:spcPts val="2"/>
              </a:spcBef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Comprendre l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causes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prédire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9366239" y="3886893"/>
            <a:ext cx="2164714" cy="1781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9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4400" algn="l" rtl="0" eaLnBrk="0">
              <a:lnSpc>
                <a:spcPct val="81000"/>
              </a:lnSpc>
              <a:tabLst/>
            </a:pPr>
            <a:r>
              <a:rPr sz="3500" kern="0" spc="-2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3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423"/>
              </a:spcBef>
              <a:tabLst/>
            </a:pPr>
            <a:r>
              <a:rPr sz="2000" b="1" kern="0" spc="-7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Recommandations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34365" indent="-603250" algn="l" rtl="0" eaLnBrk="0">
              <a:lnSpc>
                <a:spcPct val="120000"/>
              </a:lnSpc>
              <a:spcBef>
                <a:spcPts val="2"/>
              </a:spcBef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Transformer</a:t>
            </a:r>
            <a:r>
              <a:rPr sz="15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</a:t>
            </a:r>
            <a:r>
              <a:rPr sz="1500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actions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concr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è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3619540" y="3866321"/>
            <a:ext cx="2046604" cy="181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3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9314" algn="l" rtl="0" eaLnBrk="0">
              <a:lnSpc>
                <a:spcPct val="82000"/>
              </a:lnSpc>
              <a:tabLst/>
            </a:pPr>
            <a:r>
              <a:rPr sz="4000" kern="0" spc="-20" dirty="0">
                <a:solidFill>
                  <a:srgbClr val="F06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4000" dirty="0">
              <a:latin typeface="Arial"/>
              <a:ea typeface="Arial"/>
              <a:cs typeface="Arial"/>
            </a:endParaRPr>
          </a:p>
          <a:p>
            <a:pPr marL="564515" algn="l" rtl="0" eaLnBrk="0">
              <a:lnSpc>
                <a:spcPct val="80000"/>
              </a:lnSpc>
              <a:spcBef>
                <a:spcPts val="929"/>
              </a:spcBef>
              <a:tabLst/>
            </a:pPr>
            <a:r>
              <a:rPr sz="2000" b="1" kern="0" spc="-7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Analyse</a:t>
            </a:r>
            <a:endParaRPr sz="2000" dirty="0">
              <a:latin typeface="Arial"/>
              <a:ea typeface="Arial"/>
              <a:cs typeface="Arial"/>
            </a:endParaRPr>
          </a:p>
          <a:p>
            <a:pPr marL="399415" algn="l" rtl="0" eaLnBrk="0">
              <a:lnSpc>
                <a:spcPct val="81000"/>
              </a:lnSpc>
              <a:spcBef>
                <a:spcPts val="433"/>
              </a:spcBef>
              <a:tabLst/>
            </a:pPr>
            <a:r>
              <a:rPr sz="2000" b="1" kern="0" spc="-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Statistiqu</a:t>
            </a:r>
            <a:r>
              <a:rPr sz="2000" b="1" kern="0" spc="-4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05765" indent="-393065" algn="l" rtl="0" eaLnBrk="0">
              <a:lnSpc>
                <a:spcPct val="121000"/>
              </a:lnSpc>
              <a:spcBef>
                <a:spcPts val="1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Quantifier</a:t>
            </a:r>
            <a:r>
              <a:rPr sz="1500" kern="0" spc="3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1500" kern="0" spc="4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ations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entre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facteurs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730280" y="3885559"/>
            <a:ext cx="2020570" cy="1735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2014" algn="l" rtl="0" eaLnBrk="0">
              <a:lnSpc>
                <a:spcPct val="81000"/>
              </a:lnSpc>
              <a:tabLst/>
            </a:pPr>
            <a:r>
              <a:rPr sz="3500" kern="0" spc="-2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3500" dirty="0">
              <a:latin typeface="Arial"/>
              <a:ea typeface="Arial"/>
              <a:cs typeface="Arial"/>
            </a:endParaRPr>
          </a:p>
          <a:p>
            <a:pPr marL="208915" algn="l" rtl="0" eaLnBrk="0">
              <a:lnSpc>
                <a:spcPct val="80000"/>
              </a:lnSpc>
              <a:spcBef>
                <a:spcPts val="1276"/>
              </a:spcBef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Exploration et</a:t>
            </a:r>
            <a:endParaRPr sz="2000" dirty="0">
              <a:latin typeface="Arial"/>
              <a:ea typeface="Arial"/>
              <a:cs typeface="Arial"/>
            </a:endParaRPr>
          </a:p>
          <a:p>
            <a:pPr marL="82550" algn="l" rtl="0" eaLnBrk="0">
              <a:lnSpc>
                <a:spcPct val="81000"/>
              </a:lnSpc>
              <a:spcBef>
                <a:spcPts val="380"/>
              </a:spcBef>
              <a:tabLst/>
            </a:pPr>
            <a:r>
              <a:rPr sz="2000" b="1" kern="0" spc="-3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Nettoyage(E</a:t>
            </a:r>
            <a:r>
              <a:rPr sz="2000" b="1" kern="0" spc="-4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DA)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2230" indent="-50165" algn="l" rtl="0" eaLnBrk="0">
              <a:lnSpc>
                <a:spcPct val="107000"/>
              </a:lnSpc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Dé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couvrir</a:t>
            </a:r>
            <a:r>
              <a:rPr sz="15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15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motifs</a:t>
            </a:r>
            <a:r>
              <a:rPr sz="15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parer</a:t>
            </a:r>
            <a:r>
              <a:rPr sz="15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15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donn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2635280" y="6177518"/>
            <a:ext cx="6915150" cy="361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641"/>
              </a:lnSpc>
              <a:tabLst/>
            </a:pPr>
            <a:r>
              <a:rPr sz="2000" i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Objectif:</a:t>
            </a:r>
            <a:r>
              <a:rPr sz="2000" i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Passer de la si</a:t>
            </a:r>
            <a:r>
              <a:rPr sz="2000" i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mple constatationà l'impact social concre</a:t>
            </a:r>
            <a:r>
              <a:rPr sz="2000" i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sz="2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96900" y="527984"/>
            <a:ext cx="10906125" cy="2385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1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42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</a:t>
            </a:r>
            <a:r>
              <a:rPr sz="42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nous disent</a:t>
            </a:r>
            <a:r>
              <a:rPr sz="42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 chiffres</a:t>
            </a:r>
            <a:r>
              <a:rPr sz="42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?                       </a:t>
            </a:r>
            <a:r>
              <a:rPr sz="4200" b="1" kern="0" spc="-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endParaRPr sz="4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818"/>
              </a:spcBef>
              <a:tabLst/>
            </a:pPr>
            <a:r>
              <a:rPr sz="2700" b="1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Tendance Annuelle:Une Augmentation Co</a:t>
            </a:r>
            <a:r>
              <a:rPr sz="2700" b="1" kern="0" spc="-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nstante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42"/>
              </a:lnSpc>
              <a:spcBef>
                <a:spcPts val="820"/>
              </a:spcBef>
              <a:tabLst/>
            </a:pPr>
            <a:r>
              <a:rPr sz="2200" b="1" kern="0" spc="0" dirty="0">
                <a:solidFill>
                  <a:srgbClr val="3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2016: </a:t>
            </a:r>
            <a:r>
              <a:rPr sz="2200" b="1" kern="0" spc="0" dirty="0">
                <a:solidFill>
                  <a:srgbClr val="F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0,41M                  </a:t>
            </a:r>
            <a:r>
              <a:rPr sz="2200" b="1" kern="0" spc="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2019: </a:t>
            </a:r>
            <a:r>
              <a:rPr sz="2200" b="1" kern="0" spc="0" dirty="0">
                <a:solidFill>
                  <a:srgbClr val="E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0,77M                 </a:t>
            </a:r>
            <a:r>
              <a:rPr sz="2200" b="1" kern="0" spc="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2021: </a:t>
            </a:r>
            <a:r>
              <a:rPr sz="2200" b="1" kern="0" spc="0" dirty="0">
                <a:solidFill>
                  <a:srgbClr val="E05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1,81M                  </a:t>
            </a:r>
            <a:r>
              <a:rPr sz="2700" b="1" kern="0" spc="0" dirty="0">
                <a:solidFill>
                  <a:srgbClr val="20405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2022:</a:t>
            </a:r>
            <a:r>
              <a:rPr sz="2700" b="1" kern="0" spc="0" dirty="0">
                <a:solidFill>
                  <a:srgbClr val="E05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2,</a:t>
            </a:r>
            <a:r>
              <a:rPr sz="2700" b="1" kern="0" spc="-10" dirty="0">
                <a:solidFill>
                  <a:srgbClr val="E05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37M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2964"/>
              </a:lnSpc>
              <a:tabLst/>
            </a:pPr>
            <a:r>
              <a:rPr sz="3100" b="1" kern="0" spc="-40" baseline="1411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-40" baseline="1411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(5,32%)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3400" kern="0" spc="-40" baseline="1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→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100" b="1" kern="0" spc="-40" baseline="1411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accidents(</a:t>
            </a:r>
            <a:r>
              <a:rPr sz="3100" kern="0" spc="-40" baseline="1411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10,00%)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100" kern="0" spc="-40" baseline="1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→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(23,57%)         </a:t>
            </a:r>
            <a:r>
              <a:rPr sz="3100" b="1" kern="0" spc="-40" baseline="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-40" baseline="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(30,80%)</a:t>
            </a:r>
            <a:endParaRPr sz="3100" baseline="1000" dirty="0">
              <a:latin typeface="Arial"/>
              <a:ea typeface="Arial"/>
              <a:cs typeface="Arial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1488158" y="538233"/>
            <a:ext cx="127000" cy="9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07"/>
              </a:lnSpc>
              <a:tabLst/>
            </a:pPr>
            <a:r>
              <a:rPr sz="400" i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□口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76332" y="666734"/>
            <a:ext cx="546079" cy="514350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596900" y="3699169"/>
            <a:ext cx="10684509" cy="1983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356600" algn="l" rtl="0" eaLnBrk="0">
              <a:lnSpc>
                <a:spcPts val="543"/>
              </a:lnSpc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endParaRPr sz="700" dirty="0">
              <a:latin typeface="Arial"/>
              <a:ea typeface="Arial"/>
              <a:cs typeface="Arial"/>
            </a:endParaRPr>
          </a:p>
          <a:p>
            <a:pPr marL="8482965" algn="l" rtl="0" eaLnBrk="0">
              <a:lnSpc>
                <a:spcPct val="78000"/>
              </a:lnSpc>
              <a:spcBef>
                <a:spcPts val="644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</a:t>
            </a:r>
            <a:endParaRPr sz="1200" dirty="0">
              <a:latin typeface="Times New Roman"/>
              <a:ea typeface="Times New Roman"/>
              <a:cs typeface="Times New Roman"/>
            </a:endParaRPr>
          </a:p>
          <a:p>
            <a:pPr marL="10356850" algn="l" rtl="0" eaLnBrk="0">
              <a:lnSpc>
                <a:spcPts val="1290"/>
              </a:lnSpc>
              <a:spcBef>
                <a:spcPts val="710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61"/>
              </a:lnSpc>
              <a:tabLst/>
            </a:pPr>
            <a:r>
              <a:rPr sz="2700" b="1" kern="0" spc="-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2700" b="1" kern="0" spc="-4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endance</a:t>
            </a:r>
            <a:r>
              <a:rPr sz="2700" b="1" kern="0" spc="1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4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Mensuelle:Les</a:t>
            </a:r>
            <a:r>
              <a:rPr sz="2700" b="1" kern="0" spc="16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4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Mois Critiques     </a:t>
            </a:r>
            <a:r>
              <a:rPr sz="2700" b="1" kern="0" spc="-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</a:t>
            </a:r>
            <a:r>
              <a:rPr sz="3100" kern="0" spc="-50" baseline="3669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-40" baseline="4180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1600" baseline="41803" dirty="0">
              <a:latin typeface="Arial"/>
              <a:ea typeface="Arial"/>
              <a:cs typeface="Arial"/>
            </a:endParaRPr>
          </a:p>
          <a:p>
            <a:pPr marL="9092565" algn="l" rtl="0" eaLnBrk="0">
              <a:lnSpc>
                <a:spcPts val="1431"/>
              </a:lnSpc>
              <a:spcBef>
                <a:spcPts val="1097"/>
              </a:spcBef>
              <a:tabLst/>
            </a:pPr>
            <a:r>
              <a:rPr sz="1000" kern="0" spc="-20" dirty="0">
                <a:solidFill>
                  <a:srgbClr val="D06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</a:t>
            </a:r>
            <a:r>
              <a:rPr sz="1000" kern="0" spc="-20" dirty="0">
                <a:solidFill>
                  <a:srgbClr val="B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ak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79450" algn="l" rtl="0" eaLnBrk="0">
              <a:lnSpc>
                <a:spcPct val="88000"/>
              </a:lnSpc>
              <a:tabLst/>
            </a:pPr>
            <a:r>
              <a:rPr sz="3700" b="1" kern="0" spc="-3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Octobre        </a:t>
            </a:r>
            <a:r>
              <a:rPr sz="3700" b="1" kern="0" spc="-4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Novembre             </a:t>
            </a:r>
            <a:r>
              <a:rPr sz="3700" b="1" kern="0" spc="-4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Décembre</a:t>
            </a:r>
            <a:endParaRPr sz="3700" dirty="0">
              <a:latin typeface="Arial"/>
              <a:ea typeface="Arial"/>
              <a:cs typeface="Arial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96900" y="5964789"/>
            <a:ext cx="10679430" cy="415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66"/>
              </a:lnSpc>
              <a:tabLst/>
            </a:pP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200" kern="0" spc="24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mois</a:t>
            </a:r>
            <a:r>
              <a:rPr sz="2200" kern="0" spc="18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200" kern="0" spc="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automne</a:t>
            </a:r>
            <a:r>
              <a:rPr sz="2200" kern="0" spc="18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200" kern="0" spc="17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200" kern="0" spc="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hiver</a:t>
            </a:r>
            <a:r>
              <a:rPr sz="2200" kern="0" spc="17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affichent</a:t>
            </a:r>
            <a:r>
              <a:rPr sz="2200" kern="0" spc="2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200" kern="0" spc="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taux</a:t>
            </a:r>
            <a:r>
              <a:rPr sz="2200" kern="0" spc="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200" kern="0" spc="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r>
              <a:rPr sz="2200" kern="0" spc="2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200" kern="0" spc="2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plus</a:t>
            </a:r>
            <a:r>
              <a:rPr sz="2200" kern="0" spc="18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200" kern="0" spc="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200" kern="0" spc="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</a:t>
            </a:r>
            <a:r>
              <a:rPr sz="2200" kern="0" spc="10" dirty="0">
                <a:solidFill>
                  <a:srgbClr val="203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és</a:t>
            </a:r>
            <a:endParaRPr sz="2200" dirty="0">
              <a:latin typeface="Arial"/>
              <a:ea typeface="Arial"/>
              <a:cs typeface="Arial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8867120" y="3641542"/>
            <a:ext cx="62864" cy="276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18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"/>
              </a:lnSpc>
              <a:tabLst/>
            </a:pP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</a:t>
            </a:r>
            <a:r>
              <a:rPr sz="5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</a:t>
            </a:r>
            <a:endParaRPr sz="500" dirty="0">
              <a:latin typeface="SimSun"/>
              <a:ea typeface="SimSun"/>
              <a:cs typeface="SimSun"/>
            </a:endParaRPr>
          </a:p>
        </p:txBody>
      </p:sp>
      <p:sp>
        <p:nvSpPr>
          <p:cNvPr id="70" name="textbox 70"/>
          <p:cNvSpPr/>
          <p:nvPr/>
        </p:nvSpPr>
        <p:spPr>
          <a:xfrm rot="16200000">
            <a:off x="8780785" y="3802301"/>
            <a:ext cx="92075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73"/>
              </a:lnSpc>
              <a:spcBef>
                <a:spcPts val="1"/>
              </a:spcBef>
              <a:tabLst/>
            </a:pP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00</a:t>
            </a:r>
            <a:endParaRPr sz="5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1962160" y="4572665"/>
            <a:ext cx="8500744" cy="1792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965835" algn="l" rtl="0" eaLnBrk="0">
              <a:lnSpc>
                <a:spcPts val="2589"/>
              </a:lnSpc>
              <a:spcBef>
                <a:spcPts val="3"/>
              </a:spcBef>
              <a:tabLst>
                <a:tab pos="2088514" algn="l"/>
              </a:tabLst>
            </a:pPr>
            <a:r>
              <a:rPr sz="1900" kern="0" spc="0" dirty="0">
                <a:solidFill>
                  <a:srgbClr val="C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900" kern="0" spc="-30" dirty="0">
                <a:solidFill>
                  <a:srgbClr val="C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</a:t>
            </a:r>
            <a:r>
              <a:rPr sz="1900" kern="0" spc="-30" dirty="0">
                <a:solidFill>
                  <a:srgbClr val="D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 accru                     </a:t>
            </a:r>
            <a:r>
              <a:rPr sz="1900" kern="0" spc="-40" dirty="0">
                <a:solidFill>
                  <a:srgbClr val="D06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Impact  direct             </a:t>
            </a:r>
            <a:r>
              <a:rPr sz="2900" b="1" kern="0" spc="-40" baseline="465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Précipitations</a:t>
            </a:r>
            <a:endParaRPr sz="2900" baseline="4653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165" algn="l" rtl="0" eaLnBrk="0">
              <a:lnSpc>
                <a:spcPts val="2589"/>
              </a:lnSpc>
              <a:spcBef>
                <a:spcPts val="575"/>
              </a:spcBef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·La</a:t>
            </a:r>
            <a:r>
              <a:rPr sz="1900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visibilité</a:t>
            </a:r>
            <a:r>
              <a:rPr sz="1900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réduite</a:t>
            </a:r>
            <a:r>
              <a:rPr sz="1900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est</a:t>
            </a:r>
            <a:r>
              <a:rPr sz="1900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1900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facteur</a:t>
            </a:r>
            <a:r>
              <a:rPr sz="1900" kern="0" spc="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1900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plus</a:t>
            </a:r>
            <a:r>
              <a:rPr sz="1900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déterminant</a:t>
            </a:r>
            <a:endParaRPr sz="19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ts val="2589"/>
              </a:lnSpc>
              <a:spcBef>
                <a:spcPts val="389"/>
              </a:spcBef>
              <a:tabLst/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·Les</a:t>
            </a:r>
            <a:r>
              <a:rPr sz="1900" kern="0" spc="5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conditions</a:t>
            </a:r>
            <a:r>
              <a:rPr sz="1900" kern="0" spc="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environnementales</a:t>
            </a:r>
            <a:r>
              <a:rPr sz="1900" kern="0" spc="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amplifient</a:t>
            </a:r>
            <a:r>
              <a:rPr sz="1900" kern="0" spc="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ificativement  les  risques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2772336" y="4915756"/>
            <a:ext cx="151129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76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2790301" y="4693556"/>
            <a:ext cx="151129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76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57871" y="4585365"/>
            <a:ext cx="136202" cy="472909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2564577" y="4915756"/>
            <a:ext cx="93980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78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2542245" y="4696211"/>
            <a:ext cx="14414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66000"/>
              </a:lnSpc>
              <a:tabLst/>
            </a:pP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13543" y="4585365"/>
            <a:ext cx="148049" cy="475564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2236650" y="4874252"/>
            <a:ext cx="203834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ct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2274402" y="4693556"/>
            <a:ext cx="14414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67000"/>
              </a:lnSpc>
              <a:tabLst/>
            </a:pP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2101039" y="4915756"/>
            <a:ext cx="151764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76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2132276" y="4693556"/>
            <a:ext cx="151764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76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1974839" y="4915756"/>
            <a:ext cx="14414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67000"/>
              </a:lnSpc>
              <a:tabLst/>
            </a:pPr>
            <a:r>
              <a:rPr sz="18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1962160" y="4645055"/>
            <a:ext cx="187960" cy="261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6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676379" y="2159608"/>
            <a:ext cx="4979034" cy="1888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89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Faible</a:t>
            </a:r>
            <a:r>
              <a:rPr sz="19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visibilité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96715" indent="-3142614" algn="l" rtl="0" eaLnBrk="0">
              <a:lnSpc>
                <a:spcPct val="117000"/>
              </a:lnSpc>
              <a:spcBef>
                <a:spcPts val="650"/>
              </a:spcBef>
              <a:tabLst/>
            </a:pPr>
            <a:r>
              <a:rPr sz="2900" kern="0" spc="0" baseline="10776" dirty="0">
                <a:solidFill>
                  <a:srgbClr val="C06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Corrélation</a:t>
            </a:r>
            <a:r>
              <a:rPr sz="1800" kern="0" spc="220" dirty="0">
                <a:solidFill>
                  <a:srgbClr val="C06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baseline="10776" dirty="0">
                <a:solidFill>
                  <a:srgbClr val="C06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2900" kern="0" spc="-10" baseline="10776" dirty="0">
                <a:solidFill>
                  <a:srgbClr val="C06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orte</a:t>
            </a:r>
            <a:r>
              <a:rPr sz="1800" kern="0" spc="310" dirty="0">
                <a:solidFill>
                  <a:srgbClr val="C06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-10" baseline="10776" dirty="0">
                <a:solidFill>
                  <a:srgbClr val="C06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1800" kern="0" spc="-10" dirty="0">
                <a:solidFill>
                  <a:srgbClr val="C06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3300" kern="0" spc="-10" baseline="-28411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Sévérité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endParaRPr sz="1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654"/>
              </a:lnSpc>
              <a:tabLst/>
            </a:pP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654080" y="493081"/>
            <a:ext cx="8025765" cy="1042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300" b="1" kern="0" spc="-17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 facteurs qui</a:t>
            </a:r>
            <a:r>
              <a:rPr sz="4300" b="1" kern="0" spc="2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7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 trompent</a:t>
            </a:r>
            <a:r>
              <a:rPr sz="4300" b="1" kern="0" spc="19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7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</a:t>
            </a:r>
            <a:endParaRPr sz="43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3407"/>
              </a:lnSpc>
              <a:spcBef>
                <a:spcPts val="347"/>
              </a:spcBef>
              <a:tabLst/>
            </a:pP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L'analyse de corrélation</a:t>
            </a:r>
            <a:r>
              <a:rPr sz="25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révèle</a:t>
            </a:r>
            <a:r>
              <a:rPr sz="25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5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liens significat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ifs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7562798" y="2026289"/>
            <a:ext cx="3178175" cy="1284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5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36064" indent="-253365" algn="l" rtl="0" eaLnBrk="0">
              <a:lnSpc>
                <a:spcPct val="115000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Conditions</a:t>
            </a:r>
            <a:r>
              <a:rPr sz="19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mété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défavorable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89"/>
              </a:lnSpc>
              <a:spcBef>
                <a:spcPts val="1"/>
              </a:spcBef>
              <a:tabLst/>
            </a:pPr>
            <a:r>
              <a:rPr sz="1900" kern="0" spc="0" dirty="0">
                <a:solidFill>
                  <a:srgbClr val="D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Corrélation</a:t>
            </a:r>
            <a:r>
              <a:rPr sz="1900" kern="0" spc="-10" dirty="0">
                <a:solidFill>
                  <a:srgbClr val="D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significative</a:t>
            </a:r>
            <a:r>
              <a:rPr sz="1900" kern="0" spc="170" dirty="0">
                <a:solidFill>
                  <a:srgbClr val="D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D05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endParaRPr sz="1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40" y="1987517"/>
            <a:ext cx="11817339" cy="3663955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622259" y="487199"/>
            <a:ext cx="10694034" cy="143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223"/>
              </a:lnSpc>
              <a:tabLst/>
            </a:pPr>
            <a:r>
              <a:rPr sz="3600" kern="0" spc="-10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Tous</a:t>
            </a:r>
            <a:r>
              <a:rPr sz="3600" kern="0" spc="2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10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3600" b="1" kern="0" spc="-10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 conducteurs sont-il</a:t>
            </a:r>
            <a:r>
              <a:rPr sz="36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 égaux face au risque?</a:t>
            </a:r>
            <a:endParaRPr sz="3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892300" algn="l" rtl="0" eaLnBrk="0">
              <a:lnSpc>
                <a:spcPts val="3339"/>
              </a:lnSpc>
              <a:spcBef>
                <a:spcPts val="1"/>
              </a:spcBef>
              <a:tabLst/>
            </a:pPr>
            <a:r>
              <a:rPr sz="2400" kern="0" spc="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Nos</a:t>
            </a:r>
            <a:r>
              <a:rPr sz="2400" kern="0" spc="38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analyses</a:t>
            </a:r>
            <a:r>
              <a:rPr sz="2400" kern="0" spc="46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2400" kern="0" spc="9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évè</a:t>
            </a:r>
            <a:r>
              <a:rPr sz="2400" kern="0" spc="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lent</a:t>
            </a:r>
            <a:r>
              <a:rPr sz="2400" kern="0" spc="37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2400" kern="0" spc="38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differences</a:t>
            </a:r>
            <a:r>
              <a:rPr sz="2400" kern="0" spc="37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significatives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819160" y="2538050"/>
            <a:ext cx="3018789" cy="2379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700" b="1" kern="0" spc="2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Weather</a:t>
            </a:r>
            <a:r>
              <a:rPr sz="1700" b="1" kern="0" spc="18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2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impact</a:t>
            </a:r>
            <a:r>
              <a:rPr sz="1700" b="1" kern="0" spc="16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2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</a:t>
            </a:r>
            <a:r>
              <a:rPr sz="1700" b="1" kern="0" spc="1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mparison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20750" algn="l" rtl="0" eaLnBrk="0">
              <a:lnSpc>
                <a:spcPct val="83000"/>
              </a:lnSpc>
              <a:spcBef>
                <a:spcPts val="519"/>
              </a:spcBef>
              <a:tabLst/>
            </a:pPr>
            <a:r>
              <a:rPr sz="1700" b="1" kern="0" spc="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Temps  clair</a:t>
            </a:r>
            <a:endParaRPr sz="1700" dirty="0">
              <a:latin typeface="Arial"/>
              <a:ea typeface="Arial"/>
              <a:cs typeface="Arial"/>
            </a:endParaRPr>
          </a:p>
          <a:p>
            <a:pPr marL="920750" algn="l" rtl="0" eaLnBrk="0">
              <a:lnSpc>
                <a:spcPts val="2385"/>
              </a:lnSpc>
              <a:spcBef>
                <a:spcPts val="263"/>
              </a:spcBef>
              <a:tabLst/>
            </a:pP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Risque de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ase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20750" algn="l" rtl="0" eaLnBrk="0">
              <a:lnSpc>
                <a:spcPct val="84000"/>
              </a:lnSpc>
              <a:spcBef>
                <a:spcPts val="513"/>
              </a:spcBef>
              <a:tabLst/>
            </a:pPr>
            <a:r>
              <a:rPr sz="1700" b="1" kern="0" spc="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Pluie</a:t>
            </a:r>
            <a:r>
              <a:rPr sz="1700" b="1" kern="0" spc="8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700" b="1" kern="0" spc="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Neige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20750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700" b="1" kern="0" spc="-1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Risque accru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634959" y="5880117"/>
            <a:ext cx="10948034" cy="590550"/>
          </a:xfrm>
          <a:prstGeom prst="rect">
            <a:avLst/>
          </a:prstGeom>
          <a:solidFill>
            <a:srgbClr val="E5E7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ct val="83000"/>
              </a:lnSpc>
              <a:tabLst/>
            </a:pP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 tests A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NOVA et</a:t>
            </a:r>
            <a:r>
              <a:rPr sz="1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Kruskal-Wallis confirment:Venvironnement</a:t>
            </a: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influence directemen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 sécurité routiere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5276799" y="2537195"/>
            <a:ext cx="2548254" cy="2384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900" b="1" kern="0" spc="-5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Visibility</a:t>
            </a:r>
            <a:r>
              <a:rPr sz="1900" b="1" kern="0" spc="-6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impact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0" algn="l" rtl="0" eaLnBrk="0">
              <a:lnSpc>
                <a:spcPct val="82000"/>
              </a:lnSpc>
              <a:spcBef>
                <a:spcPts val="607"/>
              </a:spcBef>
              <a:tabLst/>
            </a:pPr>
            <a:r>
              <a:rPr sz="2000" b="1" kern="0" spc="-8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Bonne visibilité</a:t>
            </a:r>
            <a:endParaRPr sz="2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85"/>
              </a:lnSpc>
              <a:spcBef>
                <a:spcPts val="106"/>
              </a:spcBef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 moins sévèr</a:t>
            </a: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0" algn="l" rtl="0" eaLnBrk="0">
              <a:lnSpc>
                <a:spcPct val="82000"/>
              </a:lnSpc>
              <a:spcBef>
                <a:spcPts val="609"/>
              </a:spcBef>
              <a:tabLst/>
            </a:pPr>
            <a:r>
              <a:rPr sz="2000" b="1" kern="0" spc="-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Visibilité réduite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03200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700" b="1" kern="0" spc="-1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 plus</a:t>
            </a:r>
            <a:r>
              <a:rPr sz="1700" b="1" kern="0" spc="7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1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graves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8470859" y="3065438"/>
            <a:ext cx="3020695" cy="1541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2900" b="1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12%des accidents</a:t>
            </a:r>
            <a:endParaRPr sz="2900" dirty="0">
              <a:latin typeface="Arial"/>
              <a:ea typeface="Arial"/>
              <a:cs typeface="Arial"/>
            </a:endParaRPr>
          </a:p>
          <a:p>
            <a:pPr marL="203200" algn="l" rtl="0" eaLnBrk="0">
              <a:lnSpc>
                <a:spcPct val="66000"/>
              </a:lnSpc>
              <a:spcBef>
                <a:spcPts val="1140"/>
              </a:spcBef>
              <a:tabLst/>
            </a:pPr>
            <a:r>
              <a:rPr sz="2400" b="1" kern="0" spc="-9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liés aux conditions</a:t>
            </a:r>
            <a:endParaRPr sz="24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83000"/>
              </a:lnSpc>
              <a:spcBef>
                <a:spcPts val="777"/>
              </a:spcBef>
              <a:tabLst/>
            </a:pPr>
            <a:r>
              <a:rPr sz="2400" b="1" kern="0" spc="-8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météorologiqu</a:t>
            </a:r>
            <a:r>
              <a:rPr sz="2400" b="1" kern="0" spc="-9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65100" algn="l" rtl="0" eaLnBrk="0">
              <a:lnSpc>
                <a:spcPts val="2385"/>
              </a:lnSpc>
              <a:spcBef>
                <a:spcPts val="464"/>
              </a:spcBef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77%sous la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pluie ou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bro</a:t>
            </a: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uillard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11696740" y="4003723"/>
            <a:ext cx="262890" cy="10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9"/>
              </a:lnSpc>
              <a:tabLst/>
            </a:pPr>
            <a:r>
              <a:rPr sz="500" kern="0" spc="16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.</a:t>
            </a:r>
            <a:endParaRPr sz="5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704799" y="532465"/>
            <a:ext cx="8920480" cy="975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6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4500" b="1" kern="0" spc="-17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 que</a:t>
            </a:r>
            <a:r>
              <a:rPr sz="4500" b="1" kern="0" spc="2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500" b="1" kern="0" spc="-17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 science con</a:t>
            </a:r>
            <a:r>
              <a:rPr sz="4500" b="1" kern="0" spc="-18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firme</a:t>
            </a:r>
            <a:endParaRPr sz="4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03"/>
              </a:lnSpc>
              <a:tabLst/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Nos analyses statistiques avancées valident plusie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urs hypothèses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clés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727240" y="5581657"/>
            <a:ext cx="8705850" cy="666750"/>
          </a:xfrm>
          <a:prstGeom prst="rect">
            <a:avLst/>
          </a:prstGeom>
          <a:solidFill>
            <a:srgbClr val="F9E9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1665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2300" b="1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Tests statistiques rigoureux</a:t>
            </a:r>
            <a:r>
              <a:rPr sz="2300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:Khi²,ANOVA,Kruskal-Wallis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206500" y="4937418"/>
            <a:ext cx="429894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445"/>
              </a:lnSpc>
              <a:tabLst/>
            </a:pPr>
            <a:r>
              <a:rPr sz="34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√</a:t>
            </a:r>
            <a:endParaRPr sz="3400" dirty="0">
              <a:latin typeface="SimSun"/>
              <a:ea typeface="SimSun"/>
              <a:cs typeface="SimSun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3810030"/>
            <a:ext cx="1657380" cy="3047969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7327858" y="1953231"/>
            <a:ext cx="3843020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3000"/>
              </a:lnSpc>
              <a:tabLst/>
            </a:pPr>
            <a:r>
              <a:rPr sz="2300" b="1" kern="0" spc="-4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Conditions mét</a:t>
            </a:r>
            <a:r>
              <a:rPr sz="2300" b="1" kern="0" spc="-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éorologiques</a:t>
            </a:r>
            <a:r>
              <a:rPr sz="2300" b="1" kern="0" spc="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validées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9000"/>
              </a:lnSpc>
              <a:spcBef>
                <a:spcPts val="32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12%des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r>
              <a:rPr sz="18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liés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à</a:t>
            </a:r>
            <a:r>
              <a:rPr sz="18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18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mété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o,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dont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77%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sous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pluie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brouillard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7327858" y="3852888"/>
            <a:ext cx="3678554" cy="1209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300" b="1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Infrastructure ro</a:t>
            </a:r>
            <a:r>
              <a:rPr sz="2300" b="1" kern="0" spc="-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utiere</a:t>
            </a:r>
            <a:r>
              <a:rPr sz="2300" b="1" kern="0" spc="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2300" b="1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critique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9000"/>
              </a:lnSpc>
              <a:spcBef>
                <a:spcPts val="8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Absence</a:t>
            </a:r>
            <a:r>
              <a:rPr sz="18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nagements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=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taux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d'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plus</a:t>
            </a:r>
            <a:r>
              <a:rPr sz="1800" kern="0" spc="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1879620" y="2055003"/>
            <a:ext cx="3455034" cy="1229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300" b="1" kern="0" spc="-10" dirty="0">
                <a:solidFill>
                  <a:srgbClr val="2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Impact du </a:t>
            </a:r>
            <a:r>
              <a:rPr sz="2300" b="1" kern="0" spc="-20" dirty="0">
                <a:solidFill>
                  <a:srgbClr val="2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week-end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335"/>
              </a:spcBef>
              <a:tabLst/>
            </a:pPr>
            <a:r>
              <a:rPr sz="2300" b="1" kern="0" spc="-2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confirmé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8000"/>
              </a:lnSpc>
              <a:spcBef>
                <a:spcPts val="10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Lien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statistiquement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significatif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avec</a:t>
            </a:r>
            <a:r>
              <a:rPr sz="1800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18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gravit</a:t>
            </a:r>
            <a:r>
              <a:rPr sz="18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18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1879620" y="3826630"/>
            <a:ext cx="3223260" cy="1242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2300" b="1" kern="0" spc="-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Heures de</a:t>
            </a:r>
            <a:r>
              <a:rPr sz="2300" b="1" kern="0" spc="1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pointe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0"/>
              </a:spcBef>
              <a:tabLst/>
            </a:pPr>
            <a:r>
              <a:rPr sz="2300" b="1" kern="0" spc="-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identifiée</a:t>
            </a:r>
            <a:r>
              <a:rPr sz="2300" b="1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spcBef>
                <a:spcPts val="14"/>
              </a:spcBef>
              <a:tabLst/>
            </a:pP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Corrélati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significative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entre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I'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heure</a:t>
            </a:r>
            <a:r>
              <a:rPr sz="1800" kern="0" spc="4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1800" kern="0" spc="4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1800" kern="0" spc="4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risque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35720" y="3962415"/>
            <a:ext cx="876239" cy="647669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48400" y="2171723"/>
            <a:ext cx="857219" cy="654047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93699" y="2184410"/>
            <a:ext cx="857341" cy="641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6" name="textbox 146"/>
          <p:cNvSpPr/>
          <p:nvPr/>
        </p:nvSpPr>
        <p:spPr>
          <a:xfrm>
            <a:off x="6686559" y="3346950"/>
            <a:ext cx="4648834" cy="1922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25"/>
              </a:lnSpc>
              <a:tabLst/>
            </a:pPr>
            <a:r>
              <a:rPr sz="2000" kern="0" spc="-1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Objectif:Identifier   le</a:t>
            </a:r>
            <a:r>
              <a:rPr sz="2000" kern="0" spc="4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000" kern="0" spc="-1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'qui'et</a:t>
            </a:r>
            <a:r>
              <a:rPr sz="2000" kern="0" spc="6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000" kern="0" spc="-1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2000" kern="0" spc="5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000" kern="0" spc="-1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'qu</a:t>
            </a:r>
            <a:r>
              <a:rPr sz="2000" kern="0" spc="-20" dirty="0">
                <a:solidFill>
                  <a:srgbClr val="F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and'</a:t>
            </a:r>
            <a:endParaRPr sz="2000" dirty="0">
              <a:latin typeface="Arial"/>
              <a:ea typeface="Arial"/>
              <a:cs typeface="Arial"/>
            </a:endParaRPr>
          </a:p>
          <a:p>
            <a:pPr marL="316865" indent="-190500" algn="l" rtl="0" eaLnBrk="0">
              <a:lnSpc>
                <a:spcPct val="111000"/>
              </a:lnSpc>
              <a:spcBef>
                <a:spcPts val="1275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·Prédire</a:t>
            </a:r>
            <a:r>
              <a:rPr sz="20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2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survenue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d'accidents</a:t>
            </a:r>
            <a:r>
              <a:rPr sz="2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selon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conditions</a:t>
            </a:r>
            <a:endParaRPr sz="2000" dirty="0">
              <a:latin typeface="Arial"/>
              <a:ea typeface="Arial"/>
              <a:cs typeface="Arial"/>
            </a:endParaRPr>
          </a:p>
          <a:p>
            <a:pPr marL="310515" indent="-196850" algn="l" rtl="0" eaLnBrk="0">
              <a:lnSpc>
                <a:spcPct val="106000"/>
              </a:lnSpc>
              <a:spcBef>
                <a:spcPts val="515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·Détecter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2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schémas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complexes</a:t>
            </a:r>
            <a:r>
              <a:rPr sz="20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pour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anticiper les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ques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730280" y="3359637"/>
            <a:ext cx="4396104" cy="1628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25"/>
              </a:lnSpc>
              <a:tabLst/>
            </a:pPr>
            <a:r>
              <a:rPr sz="2000" kern="0" spc="-10" dirty="0">
                <a:solidFill>
                  <a:srgbClr val="D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Objectif:Comprendre</a:t>
            </a:r>
            <a:r>
              <a:rPr sz="2000" kern="0" spc="110" dirty="0">
                <a:solidFill>
                  <a:srgbClr val="D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000" kern="0" spc="-10" dirty="0">
                <a:solidFill>
                  <a:srgbClr val="D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2000" kern="0" spc="100" dirty="0">
                <a:solidFill>
                  <a:srgbClr val="D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000" kern="0" spc="-10" dirty="0">
                <a:solidFill>
                  <a:srgbClr val="D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'po</a:t>
            </a:r>
            <a:r>
              <a:rPr sz="2000" kern="0" spc="-20" dirty="0">
                <a:solidFill>
                  <a:srgbClr val="D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urquoi'</a:t>
            </a:r>
            <a:endParaRPr sz="2000" dirty="0">
              <a:latin typeface="Arial"/>
              <a:ea typeface="Arial"/>
              <a:cs typeface="Arial"/>
            </a:endParaRPr>
          </a:p>
          <a:p>
            <a:pPr marL="304165" indent="-184150" algn="l" rtl="0" eaLnBrk="0">
              <a:lnSpc>
                <a:spcPct val="106000"/>
              </a:lnSpc>
              <a:spcBef>
                <a:spcPts val="967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·Identifier</a:t>
            </a:r>
            <a:r>
              <a:rPr sz="2000" kern="0" spc="4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000" kern="0" spc="5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ntifier  l'influence</a:t>
            </a:r>
            <a:r>
              <a:rPr sz="2000" kern="0" spc="5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chaque facteur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725"/>
              </a:lnSpc>
              <a:spcBef>
                <a:spcPts val="3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·Révéler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lations de cause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à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effet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698459" y="505912"/>
            <a:ext cx="8700134" cy="725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509"/>
              </a:lnSpc>
              <a:tabLst/>
            </a:pPr>
            <a:r>
              <a:rPr sz="38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Deux approch</a:t>
            </a:r>
            <a:r>
              <a:rPr sz="3800" b="1" kern="0" spc="-10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3800" b="1" kern="0" spc="19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b="1" kern="0" spc="-10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pour un meme</a:t>
            </a:r>
            <a:r>
              <a:rPr sz="3800" b="1" kern="0" spc="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b="1" kern="0" spc="-10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</a:t>
            </a:r>
            <a:r>
              <a:rPr sz="38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ecti</a:t>
            </a:r>
            <a:r>
              <a:rPr sz="3800" b="1" kern="0" spc="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3800" dirty="0">
              <a:latin typeface="Arial"/>
              <a:ea typeface="Arial"/>
              <a:cs typeface="Arial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730280" y="2462268"/>
            <a:ext cx="4783454" cy="690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2600" b="1" kern="0" spc="-9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Modèle</a:t>
            </a:r>
            <a:r>
              <a:rPr sz="2600" b="1" kern="0" spc="12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9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</a:t>
            </a:r>
            <a:r>
              <a:rPr sz="2600" b="1" kern="0" spc="-10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licatif:La</a:t>
            </a:r>
            <a:r>
              <a:rPr sz="2600" b="1" kern="0" spc="13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00" dirty="0">
                <a:solidFill>
                  <a:srgbClr val="1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Régression</a:t>
            </a:r>
            <a:endParaRPr sz="2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92"/>
              </a:spcBef>
              <a:tabLst/>
            </a:pPr>
            <a:r>
              <a:rPr sz="2600" b="1" kern="0" spc="-10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Logistique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6686560" y="2497152"/>
            <a:ext cx="4275454" cy="671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2600" b="1" kern="0" spc="-8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Modèle</a:t>
            </a:r>
            <a:r>
              <a:rPr sz="2600" b="1" kern="0" spc="15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8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Prédictif</a:t>
            </a:r>
            <a:r>
              <a:rPr sz="2600" b="1" kern="0" spc="-9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:Le</a:t>
            </a:r>
            <a:r>
              <a:rPr sz="2600" b="1" kern="0" spc="14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9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Random</a:t>
            </a:r>
            <a:endParaRPr sz="2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143"/>
              </a:spcBef>
              <a:tabLst/>
            </a:pPr>
            <a:r>
              <a:rPr sz="2400" b="1" kern="0" spc="-5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Forest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4483100" y="5767090"/>
            <a:ext cx="3194685" cy="682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0" indent="-222250" algn="l" rtl="0" eaLnBrk="0">
              <a:lnSpc>
                <a:spcPct val="108000"/>
              </a:lnSpc>
              <a:tabLst/>
            </a:pPr>
            <a:r>
              <a:rPr sz="2000" i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Approches complémentaires</a:t>
            </a:r>
            <a:r>
              <a:rPr sz="2000" i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pour</a:t>
            </a:r>
            <a:r>
              <a:rPr sz="2000" i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</a:t>
            </a:r>
            <a:r>
              <a:rPr sz="2000" i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impact</a:t>
            </a:r>
            <a:r>
              <a:rPr sz="2000" i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maximal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1200160" y="5998905"/>
            <a:ext cx="480694" cy="1340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0352"/>
              </a:lnSpc>
              <a:tabLst/>
            </a:pPr>
            <a:r>
              <a:rPr sz="77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*</a:t>
            </a:r>
            <a:endParaRPr sz="7700" dirty="0">
              <a:latin typeface="SimSun"/>
              <a:ea typeface="SimSun"/>
              <a:cs typeface="SimSun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10801360" y="766526"/>
            <a:ext cx="403859" cy="1213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353"/>
              </a:lnSpc>
              <a:tabLst/>
            </a:pPr>
            <a:r>
              <a:rPr sz="6500" kern="0" spc="-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endParaRPr sz="6500" dirty="0">
              <a:latin typeface="SimSun"/>
              <a:ea typeface="SimSun"/>
              <a:cs typeface="SimSun"/>
            </a:endParaRPr>
          </a:p>
        </p:txBody>
      </p:sp>
      <p:pic>
        <p:nvPicPr>
          <p:cNvPr id="162" name="picture 1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2980" y="1663682"/>
            <a:ext cx="603260" cy="552480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62780" y="1638308"/>
            <a:ext cx="507918" cy="6096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8" name="textbox 168"/>
          <p:cNvSpPr/>
          <p:nvPr/>
        </p:nvSpPr>
        <p:spPr>
          <a:xfrm>
            <a:off x="660420" y="6365"/>
            <a:ext cx="11176000" cy="270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68"/>
              </a:lnSpc>
              <a:tabLst/>
            </a:pPr>
            <a:r>
              <a:rPr sz="4300" b="1" kern="0" spc="-170" dirty="0">
                <a:solidFill>
                  <a:srgbClr val="1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4300" b="1" kern="0" spc="260" dirty="0">
                <a:solidFill>
                  <a:srgbClr val="1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70" dirty="0">
                <a:solidFill>
                  <a:srgbClr val="1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ingrédients du</a:t>
            </a:r>
            <a:r>
              <a:rPr sz="4300" b="1" kern="0" spc="190" dirty="0">
                <a:solidFill>
                  <a:srgbClr val="1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70" dirty="0">
                <a:solidFill>
                  <a:srgbClr val="1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risque</a:t>
            </a:r>
            <a:r>
              <a:rPr sz="4300" b="1" kern="0" spc="0" dirty="0">
                <a:solidFill>
                  <a:srgbClr val="1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endParaRPr sz="4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spcBef>
                <a:spcPts val="581"/>
              </a:spcBef>
              <a:tabLst/>
            </a:pP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 modèle de rég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ression logistique</a:t>
            </a:r>
            <a:r>
              <a:rPr sz="25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révèle</a:t>
            </a:r>
            <a:r>
              <a:rPr sz="25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 facteurs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qui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augmentent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       </a:t>
            </a:r>
            <a:r>
              <a:rPr sz="7500" kern="0" spc="-20" baseline="-972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</a:t>
            </a:r>
            <a:r>
              <a:rPr sz="4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diminuent</a:t>
            </a:r>
            <a:r>
              <a:rPr sz="25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25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probabilit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 d'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850900" algn="l" rtl="0" eaLnBrk="0">
              <a:lnSpc>
                <a:spcPct val="83000"/>
              </a:lnSpc>
              <a:spcBef>
                <a:spcPts val="5"/>
              </a:spcBef>
              <a:tabLst/>
            </a:pPr>
            <a:r>
              <a:rPr sz="2500" b="1" kern="0" spc="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Facteurs aggravants         </a:t>
            </a:r>
            <a:r>
              <a:rPr sz="2500" b="1" kern="0" spc="-1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</a:t>
            </a:r>
            <a:r>
              <a:rPr sz="2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Facteurs réducteurs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41834" y="19065"/>
            <a:ext cx="2089220" cy="1188391"/>
          </a:xfrm>
          <a:prstGeom prst="rect">
            <a:avLst/>
          </a:prstGeom>
        </p:spPr>
      </p:pic>
      <p:sp>
        <p:nvSpPr>
          <p:cNvPr id="172" name="textbox 172"/>
          <p:cNvSpPr/>
          <p:nvPr/>
        </p:nvSpPr>
        <p:spPr>
          <a:xfrm>
            <a:off x="1498620" y="2912595"/>
            <a:ext cx="3731259" cy="2736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Faible</a:t>
            </a:r>
            <a:r>
              <a:rPr sz="1900" b="1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</a:t>
            </a:r>
            <a:r>
              <a:rPr sz="1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é: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Brouillard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pluie</a:t>
            </a:r>
            <a:r>
              <a:rPr sz="19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intense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neige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74"/>
              </a:lnSpc>
              <a:spcBef>
                <a:spcPts val="1457"/>
              </a:spcBef>
              <a:tabLst/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Conduite</a:t>
            </a:r>
            <a:r>
              <a:rPr sz="1900" b="1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9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nuit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612"/>
              </a:lnSpc>
              <a:tabLst/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duite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fatigue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potentielle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spcBef>
                <a:spcPts val="1401"/>
              </a:spcBef>
              <a:tabLst/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Précipitations:</a:t>
            </a:r>
            <a:r>
              <a:rPr sz="19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Réduction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14"/>
              </a:lnSpc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d'adhérence,distances de freinage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389"/>
              </a:lnSpc>
              <a:tabLst/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Week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ends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1900" b="1" kern="0" spc="-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Trafic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loisirs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12"/>
              </a:lnSpc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vigilance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moindre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7791398" y="2851497"/>
            <a:ext cx="3359784" cy="1955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60"/>
              </a:lnSpc>
              <a:tabLst/>
            </a:pP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Bonnes</a:t>
            </a: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itions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34"/>
              </a:spcBef>
              <a:tabLst/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mété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orologiques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19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Temps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clair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spcBef>
                <a:spcPts val="3"/>
              </a:spcBef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Heures</a:t>
            </a:r>
            <a:r>
              <a:rPr sz="1900" kern="0" spc="4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creuses</a:t>
            </a:r>
            <a:r>
              <a:rPr sz="1900" kern="0" spc="4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</a:t>
            </a:r>
            <a:r>
              <a:rPr sz="19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journ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ée: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Moins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hicules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meilleure   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990579" y="6015942"/>
            <a:ext cx="10160000" cy="353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75"/>
              </a:lnSpc>
              <a:tabLst/>
            </a:pP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1900" i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combinaison</a:t>
            </a:r>
            <a:r>
              <a:rPr sz="1900" i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900" i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ces</a:t>
            </a:r>
            <a:r>
              <a:rPr sz="1900" b="1" i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facteurs</a:t>
            </a:r>
            <a:r>
              <a:rPr sz="1900" b="1" i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</a:t>
            </a:r>
            <a:r>
              <a:rPr sz="1900" i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900" i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</a:t>
            </a:r>
            <a:r>
              <a:rPr sz="1900" i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environnement</a:t>
            </a:r>
            <a:r>
              <a:rPr sz="1900" i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propice</a:t>
            </a:r>
            <a:r>
              <a:rPr sz="1900" i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aux</a:t>
            </a:r>
            <a:r>
              <a:rPr sz="1900" i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incidents</a:t>
            </a:r>
            <a:r>
              <a:rPr sz="1900" i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routiers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pic>
        <p:nvPicPr>
          <p:cNvPr id="178" name="picture 1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63380" y="5092682"/>
            <a:ext cx="571439" cy="761992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96939" y="6324584"/>
            <a:ext cx="685800" cy="533415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9019" y="1955832"/>
            <a:ext cx="641421" cy="507972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279879" y="6400777"/>
            <a:ext cx="539739" cy="444535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197559" y="6489725"/>
            <a:ext cx="520720" cy="368274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-6360" y="4722266"/>
            <a:ext cx="314959" cy="750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4900" kern="0" spc="-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/</a:t>
            </a:r>
            <a:endParaRPr sz="49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1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492777"/>
            <a:ext cx="3181380" cy="1365222"/>
          </a:xfrm>
          <a:prstGeom prst="rect">
            <a:avLst/>
          </a:prstGeom>
        </p:spPr>
      </p:pic>
      <p:sp>
        <p:nvSpPr>
          <p:cNvPr id="194" name="rect 194"/>
          <p:cNvSpPr/>
          <p:nvPr/>
        </p:nvSpPr>
        <p:spPr>
          <a:xfrm>
            <a:off x="1619219" y="1790692"/>
            <a:ext cx="8540739" cy="552480"/>
          </a:xfrm>
          <a:prstGeom prst="rect">
            <a:avLst/>
          </a:prstGeom>
          <a:solidFill>
            <a:srgbClr val="F968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96" name="picture 1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12879" y="3276615"/>
            <a:ext cx="6280221" cy="552412"/>
          </a:xfrm>
          <a:prstGeom prst="rect">
            <a:avLst/>
          </a:prstGeom>
        </p:spPr>
      </p:pic>
      <p:sp>
        <p:nvSpPr>
          <p:cNvPr id="198" name="rect 198"/>
          <p:cNvSpPr/>
          <p:nvPr/>
        </p:nvSpPr>
        <p:spPr>
          <a:xfrm>
            <a:off x="1612879" y="2527310"/>
            <a:ext cx="8521719" cy="558789"/>
          </a:xfrm>
          <a:prstGeom prst="rect">
            <a:avLst/>
          </a:prstGeom>
          <a:solidFill>
            <a:srgbClr val="F6632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0" name="rect 200"/>
          <p:cNvSpPr/>
          <p:nvPr/>
        </p:nvSpPr>
        <p:spPr>
          <a:xfrm>
            <a:off x="1612879" y="4019542"/>
            <a:ext cx="4914960" cy="552480"/>
          </a:xfrm>
          <a:prstGeom prst="rect">
            <a:avLst/>
          </a:prstGeom>
          <a:solidFill>
            <a:srgbClr val="F8AA7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2" name="picture 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12879" y="4768847"/>
            <a:ext cx="3537021" cy="539724"/>
          </a:xfrm>
          <a:prstGeom prst="rect">
            <a:avLst/>
          </a:prstGeom>
        </p:spPr>
      </p:pic>
      <p:sp>
        <p:nvSpPr>
          <p:cNvPr id="204" name="textbox 204"/>
          <p:cNvSpPr/>
          <p:nvPr/>
        </p:nvSpPr>
        <p:spPr>
          <a:xfrm>
            <a:off x="711260" y="419946"/>
            <a:ext cx="10392409" cy="6066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3800" b="1" kern="0" spc="-1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ldentifier les</a:t>
            </a:r>
            <a:r>
              <a:rPr sz="3800" b="1" kern="0" spc="17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b="1" kern="0" spc="-1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points chauds</a:t>
            </a:r>
            <a:endParaRPr sz="3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2000"/>
              </a:lnSpc>
              <a:spcBef>
                <a:spcPts val="151"/>
              </a:spcBef>
              <a:tabLst/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21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modèle</a:t>
            </a:r>
            <a:r>
              <a:rPr sz="2100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Random</a:t>
            </a:r>
            <a:r>
              <a:rPr sz="2100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Forest</a:t>
            </a:r>
            <a:r>
              <a:rPr sz="21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révèle</a:t>
            </a:r>
            <a:r>
              <a:rPr sz="21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variables</a:t>
            </a:r>
            <a:r>
              <a:rPr sz="21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21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plus</a:t>
            </a:r>
            <a:r>
              <a:rPr sz="21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influentes</a:t>
            </a:r>
            <a:r>
              <a:rPr sz="21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dans</a:t>
            </a:r>
            <a:r>
              <a:rPr sz="21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diction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0565" algn="l" rtl="0" eaLnBrk="0">
              <a:lnSpc>
                <a:spcPts val="2657"/>
              </a:lnSpc>
              <a:spcBef>
                <a:spcPts val="577"/>
              </a:spcBef>
              <a:tabLst>
                <a:tab pos="958214" algn="l"/>
              </a:tabLst>
            </a:pP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Heure de</a:t>
            </a:r>
            <a:r>
              <a:rPr sz="19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 journée                                         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</a:t>
            </a:r>
            <a:r>
              <a:rPr sz="1700" b="1" kern="0" spc="-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ÉLEVÉE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552"/>
              </a:lnSpc>
              <a:spcBef>
                <a:spcPts val="521"/>
              </a:spcBef>
              <a:tabLst/>
            </a:pP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Jour</a:t>
            </a:r>
            <a:r>
              <a:rPr sz="1700" kern="0" spc="4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  la</a:t>
            </a:r>
            <a:r>
              <a:rPr sz="1700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semaine                                            </a:t>
            </a:r>
            <a:r>
              <a:rPr sz="17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</a:t>
            </a:r>
            <a:r>
              <a:rPr sz="2600" b="1" kern="0" spc="-10" baseline="12552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ÉLEVÉE</a:t>
            </a:r>
            <a:endParaRPr sz="2600" baseline="12552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58214" algn="l" rtl="0" eaLnBrk="0">
              <a:lnSpc>
                <a:spcPct val="85000"/>
              </a:lnSpc>
              <a:spcBef>
                <a:spcPts val="577"/>
              </a:spcBef>
              <a:tabLst/>
            </a:pP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Conditions</a:t>
            </a:r>
            <a:r>
              <a:rPr sz="19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Météorologiques                                                 </a:t>
            </a:r>
            <a:r>
              <a:rPr sz="1700" b="1" kern="0" spc="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MOYENNE A</a:t>
            </a:r>
            <a:r>
              <a:rPr sz="1700" b="1" kern="0" spc="13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ÉLEVÉE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29615" algn="l" rtl="0" eaLnBrk="0">
              <a:lnSpc>
                <a:spcPct val="83000"/>
              </a:lnSpc>
              <a:spcBef>
                <a:spcPts val="572"/>
              </a:spcBef>
              <a:tabLst>
                <a:tab pos="958214" algn="l"/>
              </a:tabLst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Visibilité                                                              </a:t>
            </a:r>
            <a:r>
              <a:rPr sz="1700" b="1" kern="0" spc="-2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MOYENNE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0565" algn="l" rtl="0" eaLnBrk="0">
              <a:lnSpc>
                <a:spcPct val="89000"/>
              </a:lnSpc>
              <a:spcBef>
                <a:spcPts val="519"/>
              </a:spcBef>
              <a:tabLst>
                <a:tab pos="958214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nagements</a:t>
            </a:r>
            <a:r>
              <a:rPr sz="1700" b="1" kern="0" spc="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Routiers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1700" b="1" kern="0" spc="0" dirty="0">
                <a:solidFill>
                  <a:srgbClr val="2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MOYENNE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17114" algn="l" rtl="0" eaLnBrk="0">
              <a:lnSpc>
                <a:spcPts val="2802"/>
              </a:lnSpc>
              <a:spcBef>
                <a:spcPts val="641"/>
              </a:spcBef>
              <a:tabLst/>
            </a:pP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·L'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heure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1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jour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sont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1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meilleurs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dicteurs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310764" algn="l" rtl="0" eaLnBrk="0">
              <a:lnSpc>
                <a:spcPts val="2802"/>
              </a:lnSpc>
              <a:tabLst/>
            </a:pP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Ces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facteurs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permettent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anticiper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situations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à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risque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27079" y="4743472"/>
            <a:ext cx="495361" cy="615916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95380" y="4127487"/>
            <a:ext cx="546079" cy="330212"/>
          </a:xfrm>
          <a:prstGeom prst="rect">
            <a:avLst/>
          </a:prstGeom>
        </p:spPr>
      </p:pic>
      <p:pic>
        <p:nvPicPr>
          <p:cNvPr id="210" name="picture 2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33419" y="1816067"/>
            <a:ext cx="489021" cy="5016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159520" y="3479817"/>
            <a:ext cx="5410200" cy="1885950"/>
            <a:chOff x="0" y="0"/>
            <a:chExt cx="5410200" cy="1885950"/>
          </a:xfrm>
        </p:grpSpPr>
        <p:pic>
          <p:nvPicPr>
            <p:cNvPr id="212" name="picture 2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410200" cy="1885950"/>
            </a:xfrm>
            <a:prstGeom prst="rect">
              <a:avLst/>
            </a:prstGeom>
          </p:spPr>
        </p:pic>
        <p:sp>
          <p:nvSpPr>
            <p:cNvPr id="214" name="textbox 214"/>
            <p:cNvSpPr/>
            <p:nvPr/>
          </p:nvSpPr>
          <p:spPr>
            <a:xfrm>
              <a:off x="-12700" y="-12700"/>
              <a:ext cx="5435600" cy="19183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0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12900" algn="l" rtl="0" eaLnBrk="0">
                <a:lnSpc>
                  <a:spcPts val="3291"/>
                </a:lnSpc>
                <a:tabLst/>
              </a:pPr>
              <a:r>
                <a:rPr sz="2300" b="1" kern="0" spc="-90" dirty="0">
                  <a:solidFill>
                    <a:srgbClr val="204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Risques spécifiques du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1612900" algn="l" rtl="0" eaLnBrk="0">
                <a:lnSpc>
                  <a:spcPct val="81000"/>
                </a:lnSpc>
                <a:spcBef>
                  <a:spcPts val="25"/>
                </a:spcBef>
                <a:tabLst/>
              </a:pPr>
              <a:r>
                <a:rPr sz="2300" b="1" kern="0" spc="-20" dirty="0">
                  <a:solidFill>
                    <a:srgbClr val="10304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week-end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1612264" algn="l" rtl="0" eaLnBrk="0">
                <a:lnSpc>
                  <a:spcPct val="111000"/>
                </a:lnSpc>
                <a:spcBef>
                  <a:spcPts val="96"/>
                </a:spcBef>
                <a:tabLst/>
              </a:pP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Accidents</a:t>
              </a:r>
              <a:r>
                <a:rPr sz="1800" kern="0" spc="2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plus</a:t>
              </a:r>
              <a:r>
                <a:rPr sz="1800" kern="0" spc="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r>
                <a:rPr sz="1800" kern="0" spc="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évè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res</a:t>
              </a:r>
              <a:r>
                <a:rPr sz="1800" kern="0" spc="19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malgr</a:t>
              </a:r>
              <a:r>
                <a:rPr sz="1800" kern="0" spc="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é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un</a:t>
              </a:r>
              <a:r>
                <a:rPr sz="1800" kern="0" spc="2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trafic</a:t>
              </a:r>
              <a:r>
                <a:rPr sz="1800" kern="0" spc="3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globalement</a:t>
              </a:r>
              <a:r>
                <a:rPr sz="1800" kern="0" spc="3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plus</a:t>
              </a:r>
              <a:r>
                <a:rPr sz="1800" kern="0" spc="2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faible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603260" y="3473439"/>
            <a:ext cx="5384840" cy="1892327"/>
            <a:chOff x="0" y="0"/>
            <a:chExt cx="5384840" cy="1892327"/>
          </a:xfrm>
        </p:grpSpPr>
        <p:pic>
          <p:nvPicPr>
            <p:cNvPr id="216" name="picture 2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384840" cy="1892327"/>
            </a:xfrm>
            <a:prstGeom prst="rect">
              <a:avLst/>
            </a:prstGeom>
          </p:spPr>
        </p:pic>
        <p:sp>
          <p:nvSpPr>
            <p:cNvPr id="218" name="textbox 218"/>
            <p:cNvSpPr/>
            <p:nvPr/>
          </p:nvSpPr>
          <p:spPr>
            <a:xfrm>
              <a:off x="-12700" y="-12700"/>
              <a:ext cx="5410834" cy="19704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8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12264" algn="l" rtl="0" eaLnBrk="0">
                <a:lnSpc>
                  <a:spcPct val="82000"/>
                </a:lnSpc>
                <a:tabLst/>
              </a:pPr>
              <a:r>
                <a:rPr sz="2300" b="1" kern="0" spc="-60" dirty="0">
                  <a:solidFill>
                    <a:srgbClr val="20304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Absence d'infrastr</a:t>
              </a:r>
              <a:r>
                <a:rPr sz="2300" b="1" kern="0" spc="-70" dirty="0">
                  <a:solidFill>
                    <a:srgbClr val="20304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uctures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1612264" algn="l" rtl="0" eaLnBrk="0">
                <a:lnSpc>
                  <a:spcPct val="81000"/>
                </a:lnSpc>
                <a:spcBef>
                  <a:spcPts val="15"/>
                </a:spcBef>
                <a:tabLst/>
              </a:pPr>
              <a:r>
                <a:rPr sz="2300" b="1" kern="0" spc="-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 sécurité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612264" algn="l" rtl="0" eaLnBrk="0">
                <a:lnSpc>
                  <a:spcPct val="104000"/>
                </a:lnSpc>
                <a:spcBef>
                  <a:spcPts val="1"/>
                </a:spcBef>
                <a:tabLst/>
              </a:pP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Facteur</a:t>
              </a:r>
              <a:r>
                <a:rPr sz="1800" kern="0" spc="2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aggravant</a:t>
              </a:r>
              <a:r>
                <a:rPr sz="1800" kern="0" spc="2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constant</a:t>
              </a:r>
              <a:r>
                <a:rPr sz="1800" kern="0" spc="2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sur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les</a:t>
              </a:r>
              <a:r>
                <a:rPr sz="1800" kern="0" spc="1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taux</a:t>
              </a:r>
              <a:r>
                <a:rPr sz="1800" kern="0" spc="2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d'accidents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6165860" y="1390665"/>
            <a:ext cx="5410200" cy="1854197"/>
            <a:chOff x="0" y="0"/>
            <a:chExt cx="5410200" cy="1854197"/>
          </a:xfrm>
        </p:grpSpPr>
        <p:pic>
          <p:nvPicPr>
            <p:cNvPr id="220" name="picture 2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410200" cy="1854197"/>
            </a:xfrm>
            <a:prstGeom prst="rect">
              <a:avLst/>
            </a:prstGeom>
          </p:spPr>
        </p:pic>
        <p:sp>
          <p:nvSpPr>
            <p:cNvPr id="222" name="textbox 222"/>
            <p:cNvSpPr/>
            <p:nvPr/>
          </p:nvSpPr>
          <p:spPr>
            <a:xfrm>
              <a:off x="-12700" y="-12700"/>
              <a:ext cx="5435600" cy="1889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2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06550" algn="l" rtl="0" eaLnBrk="0">
                <a:lnSpc>
                  <a:spcPts val="3291"/>
                </a:lnSpc>
                <a:tabLst/>
              </a:pPr>
              <a:r>
                <a:rPr sz="2300" b="1" kern="0" spc="-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Conditions météorologiques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1606550" algn="l" rtl="0" eaLnBrk="0">
                <a:lnSpc>
                  <a:spcPct val="79000"/>
                </a:lnSpc>
                <a:spcBef>
                  <a:spcPts val="110"/>
                </a:spcBef>
                <a:tabLst/>
              </a:pPr>
              <a:r>
                <a:rPr sz="2300" b="1" kern="0" spc="-60" dirty="0">
                  <a:solidFill>
                    <a:srgbClr val="20304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extremes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1606550" algn="l" rtl="0" eaLnBrk="0">
                <a:lnSpc>
                  <a:spcPct val="113000"/>
                </a:lnSpc>
                <a:spcBef>
                  <a:spcPts val="351"/>
                </a:spcBef>
                <a:tabLst/>
              </a:pPr>
              <a:r>
                <a:rPr sz="1800" b="1" kern="0" spc="0" dirty="0">
                  <a:solidFill>
                    <a:srgbClr val="F05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12%</a:t>
              </a:r>
              <a:r>
                <a:rPr sz="1800" b="1" kern="0" spc="-120" dirty="0">
                  <a:solidFill>
                    <a:srgbClr val="F05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des</a:t>
              </a:r>
              <a:r>
                <a:rPr sz="1800" kern="0" spc="1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accidents</a:t>
              </a:r>
              <a:r>
                <a:rPr sz="1800" kern="0" spc="19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liés</a:t>
              </a:r>
              <a:r>
                <a:rPr sz="1800" kern="0" spc="1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à</a:t>
              </a:r>
              <a:r>
                <a:rPr sz="1800" kern="0" spc="19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</a:t>
              </a:r>
              <a:r>
                <a:rPr sz="1800" kern="0" spc="20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mété</a:t>
              </a:r>
              <a:r>
                <a:rPr sz="18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o,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800" b="1" kern="0" spc="50" dirty="0">
                  <a:solidFill>
                    <a:srgbClr val="F05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77%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sous</a:t>
              </a:r>
              <a:r>
                <a:rPr sz="18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</a:t>
              </a:r>
              <a:r>
                <a:rPr sz="1800" kern="0" spc="10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pluie</a:t>
              </a:r>
              <a:r>
                <a:rPr sz="18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brouillard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596920" y="1396974"/>
            <a:ext cx="5403860" cy="1847888"/>
            <a:chOff x="0" y="0"/>
            <a:chExt cx="5403860" cy="1847888"/>
          </a:xfrm>
        </p:grpSpPr>
        <p:pic>
          <p:nvPicPr>
            <p:cNvPr id="224" name="picture 2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5403860" cy="1847888"/>
            </a:xfrm>
            <a:prstGeom prst="rect">
              <a:avLst/>
            </a:prstGeom>
          </p:spPr>
        </p:pic>
        <p:sp>
          <p:nvSpPr>
            <p:cNvPr id="226" name="textbox 226"/>
            <p:cNvSpPr/>
            <p:nvPr/>
          </p:nvSpPr>
          <p:spPr>
            <a:xfrm>
              <a:off x="-12700" y="-12700"/>
              <a:ext cx="5429884" cy="1880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618614" algn="l" rtl="0" eaLnBrk="0">
                <a:lnSpc>
                  <a:spcPct val="69000"/>
                </a:lnSpc>
                <a:spcBef>
                  <a:spcPts val="4"/>
                </a:spcBef>
                <a:tabLst/>
              </a:pPr>
              <a:r>
                <a:rPr sz="2300" b="1" kern="0" spc="-70" dirty="0">
                  <a:solidFill>
                    <a:srgbClr val="20304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Heures de</a:t>
              </a:r>
              <a:r>
                <a:rPr sz="2300" b="1" kern="0" spc="120" dirty="0">
                  <a:solidFill>
                    <a:srgbClr val="20304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300" b="1" kern="0" spc="-70" dirty="0">
                  <a:solidFill>
                    <a:srgbClr val="20304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pointe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1618614" algn="l" rtl="0" eaLnBrk="0">
                <a:lnSpc>
                  <a:spcPts val="2999"/>
                </a:lnSpc>
                <a:tabLst/>
              </a:pPr>
              <a:r>
                <a:rPr sz="2300" b="1" kern="0" spc="-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critiques(16h-18</a:t>
              </a:r>
              <a:r>
                <a:rPr sz="2300" b="1" kern="0" spc="-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h)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1618614" algn="l" rtl="0" eaLnBrk="0">
                <a:lnSpc>
                  <a:spcPct val="109000"/>
                </a:lnSpc>
                <a:spcBef>
                  <a:spcPts val="37"/>
                </a:spcBef>
                <a:tabLst/>
              </a:pPr>
              <a:r>
                <a:rPr sz="18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+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faible</a:t>
              </a:r>
              <a:r>
                <a:rPr sz="18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visibilit</a:t>
              </a:r>
              <a:r>
                <a:rPr sz="18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é  =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cocktail</a:t>
              </a:r>
              <a:r>
                <a:rPr sz="18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           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risques</a:t>
              </a:r>
              <a:r>
                <a:rPr sz="18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majeur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28" name="textbox 228"/>
          <p:cNvSpPr/>
          <p:nvPr/>
        </p:nvSpPr>
        <p:spPr>
          <a:xfrm>
            <a:off x="939861" y="5998161"/>
            <a:ext cx="10304780" cy="423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34"/>
              </a:lnSpc>
              <a:tabLst/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Nos analyses révèlent des schéma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 clairs et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 facteurs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3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risque</a:t>
            </a:r>
            <a:r>
              <a:rPr sz="23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prédominants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603239" y="536542"/>
            <a:ext cx="4994909" cy="560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300" b="1" kern="0" spc="-10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Du constat</a:t>
            </a:r>
            <a:r>
              <a:rPr sz="4300" b="1" kern="0" spc="10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0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à</a:t>
            </a:r>
            <a:r>
              <a:rPr sz="4300" b="1" kern="0" spc="14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0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'ac</a:t>
            </a:r>
            <a:r>
              <a:rPr sz="4300" b="1" kern="0" spc="-11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</a:t>
            </a:r>
            <a:endParaRPr sz="4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574803"/>
            <a:ext cx="2324160" cy="5276818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755639" y="689261"/>
            <a:ext cx="10189844" cy="2394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4200" b="1" kern="0" spc="-14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Vers des routes</a:t>
            </a:r>
            <a:r>
              <a:rPr sz="4200" b="1" kern="0" spc="19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kern="0" spc="-1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plus</a:t>
            </a:r>
            <a:r>
              <a:rPr sz="4200" b="1" kern="0" spc="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kern="0" spc="-15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sures</a:t>
            </a:r>
            <a:endParaRPr sz="4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12850" algn="l" rtl="0" eaLnBrk="0">
              <a:lnSpc>
                <a:spcPct val="76000"/>
              </a:lnSpc>
              <a:spcBef>
                <a:spcPts val="874"/>
              </a:spcBef>
              <a:tabLst/>
            </a:pPr>
            <a:r>
              <a:rPr sz="2900" b="1" kern="0" spc="-1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Sensibilisation et</a:t>
            </a:r>
            <a:r>
              <a:rPr sz="2900" b="1" kern="0" spc="1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b="1" kern="0" spc="-1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</a:t>
            </a:r>
            <a:r>
              <a:rPr sz="2900" b="1" kern="0" spc="-13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cation Ciblees    </a:t>
            </a:r>
            <a:endParaRPr sz="2900" dirty="0">
              <a:latin typeface="Arial"/>
              <a:ea typeface="Arial"/>
              <a:cs typeface="Arial"/>
            </a:endParaRPr>
          </a:p>
          <a:p>
            <a:pPr marL="1212850" algn="l" rtl="0" eaLnBrk="0">
              <a:lnSpc>
                <a:spcPts val="2563"/>
              </a:lnSpc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·Campagnes</a:t>
            </a:r>
            <a:r>
              <a:rPr sz="20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intensives</a:t>
            </a:r>
            <a:r>
              <a:rPr sz="20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pendant</a:t>
            </a:r>
            <a:r>
              <a:rPr sz="20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0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heures</a:t>
            </a:r>
            <a:r>
              <a:rPr sz="2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0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pointe</a:t>
            </a:r>
            <a:r>
              <a:rPr sz="2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week-ends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12850" algn="l" rtl="0" eaLnBrk="0">
              <a:lnSpc>
                <a:spcPts val="2425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·Information</a:t>
            </a:r>
            <a:r>
              <a:rPr sz="2000" kern="0" spc="4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</a:t>
            </a:r>
            <a:r>
              <a:rPr sz="2000" kern="0" spc="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000" kern="0" spc="4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dangers</a:t>
            </a:r>
            <a:r>
              <a:rPr sz="2000" kern="0" spc="5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lié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000" kern="0" spc="4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àla</a:t>
            </a:r>
            <a:r>
              <a:rPr sz="2000" kern="0" spc="5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pluie,brouillard</a:t>
            </a:r>
            <a:r>
              <a:rPr sz="2000" kern="0" spc="4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000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faible</a:t>
            </a:r>
            <a:r>
              <a:rPr sz="2000" kern="0" spc="4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visibilité</a:t>
            </a:r>
            <a:endParaRPr sz="2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587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·Renforcement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2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messages</a:t>
            </a:r>
            <a:r>
              <a:rPr sz="2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 vitesse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excessive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duite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sous</a:t>
            </a:r>
            <a:r>
              <a:rPr sz="20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influence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78686" y="1308094"/>
            <a:ext cx="577900" cy="654047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1955820" y="3905739"/>
            <a:ext cx="8710294" cy="988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87"/>
              </a:lnSpc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·Investissement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dans</a:t>
            </a:r>
            <a:r>
              <a:rPr sz="20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I'éclairage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public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</a:t>
            </a:r>
            <a:r>
              <a:rPr sz="2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axes</a:t>
            </a:r>
            <a:r>
              <a:rPr sz="2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à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haut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risq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ue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25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·Optimisation</a:t>
            </a:r>
            <a:r>
              <a:rPr sz="20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0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20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signalisation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aux</a:t>
            </a:r>
            <a:r>
              <a:rPr sz="2000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ntersections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zones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à</a:t>
            </a:r>
            <a:r>
              <a:rPr sz="20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faible</a:t>
            </a:r>
            <a:r>
              <a:rPr sz="20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visibilité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63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·Déploiement</a:t>
            </a:r>
            <a:r>
              <a:rPr sz="2000" kern="0" spc="4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000" kern="0" spc="4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mes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ures</a:t>
            </a:r>
            <a:r>
              <a:rPr sz="2000" kern="0" spc="4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000" kern="0" spc="4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'traffic</a:t>
            </a:r>
            <a:r>
              <a:rPr sz="2000" kern="0" spc="4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calming'en</a:t>
            </a:r>
            <a:r>
              <a:rPr sz="2000" kern="0" spc="3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zones</a:t>
            </a:r>
            <a:r>
              <a:rPr sz="2000" kern="0" spc="4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urbaines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1955820" y="5283314"/>
            <a:ext cx="6733540" cy="1105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9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9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Technologies et</a:t>
            </a:r>
            <a:r>
              <a:rPr sz="2900" b="1" kern="0" spc="1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Politiques de </a:t>
            </a:r>
            <a:r>
              <a:rPr sz="2900" b="1" kern="0" spc="-1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Sécurité</a:t>
            </a:r>
            <a:endParaRPr sz="2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98"/>
              </a:lnSpc>
              <a:spcBef>
                <a:spcPts val="468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·Systèmes</a:t>
            </a:r>
            <a:r>
              <a:rPr sz="2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d'alerte</a:t>
            </a:r>
            <a:r>
              <a:rPr sz="20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</a:t>
            </a:r>
            <a:r>
              <a:rPr sz="2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temps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réel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basés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</a:t>
            </a:r>
            <a:r>
              <a:rPr sz="20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météo</a:t>
            </a:r>
            <a:r>
              <a:rPr sz="2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trafic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98"/>
              </a:lnSpc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·Application</a:t>
            </a:r>
            <a:r>
              <a:rPr sz="2000" kern="0" spc="3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cohérente</a:t>
            </a:r>
            <a:r>
              <a:rPr sz="20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2000" kern="0" spc="4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lois</a:t>
            </a:r>
            <a:r>
              <a:rPr sz="2000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</a:t>
            </a:r>
            <a:r>
              <a:rPr sz="2000" kern="0" spc="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2000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sécurité</a:t>
            </a:r>
            <a:r>
              <a:rPr sz="2000" kern="0" spc="4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routière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1955820" y="3514727"/>
            <a:ext cx="5351145" cy="386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6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2900" b="1" kern="0" spc="-9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Amélioration des Infrastruc</a:t>
            </a:r>
            <a:r>
              <a:rPr sz="2900" b="1" kern="0" spc="-10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tures</a:t>
            </a:r>
            <a:endParaRPr sz="2900" dirty="0">
              <a:latin typeface="Arial"/>
              <a:ea typeface="Arial"/>
              <a:cs typeface="Arial"/>
            </a:endParaRPr>
          </a:p>
        </p:txBody>
      </p:sp>
      <p:pic>
        <p:nvPicPr>
          <p:cNvPr id="246" name="picture 2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378939" y="3232175"/>
            <a:ext cx="571561" cy="571477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67800" y="5778482"/>
            <a:ext cx="641298" cy="4825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641400" y="689776"/>
            <a:ext cx="5063490" cy="408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4800" b="1" kern="0" spc="-180" dirty="0">
                <a:solidFill>
                  <a:srgbClr val="204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Aller plus</a:t>
            </a:r>
            <a:r>
              <a:rPr sz="4800" b="1" kern="0" spc="260" dirty="0">
                <a:solidFill>
                  <a:srgbClr val="204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kern="0" spc="-180" dirty="0">
                <a:solidFill>
                  <a:srgbClr val="204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loin</a:t>
            </a:r>
            <a:endParaRPr sz="4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ts val="3358"/>
              </a:lnSpc>
              <a:spcBef>
                <a:spcPts val="826"/>
              </a:spcBef>
              <a:tabLst/>
            </a:pPr>
            <a:r>
              <a:rPr sz="4200" kern="0" spc="-60" baseline="-1945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!</a:t>
            </a:r>
            <a:r>
              <a:rPr sz="2700" kern="0" spc="6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7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Limites actuelles</a:t>
            </a:r>
            <a:endParaRPr sz="2700" dirty="0">
              <a:latin typeface="Arial"/>
              <a:ea typeface="Arial"/>
              <a:cs typeface="Arial"/>
            </a:endParaRPr>
          </a:p>
          <a:p>
            <a:pPr marL="672465" algn="l" rtl="0" eaLnBrk="0">
              <a:lnSpc>
                <a:spcPts val="2300"/>
              </a:lnSpc>
              <a:spcBef>
                <a:spcPts val="633"/>
              </a:spcBef>
              <a:tabLst/>
            </a:pP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800" kern="0" spc="4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Donn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comportementales</a:t>
            </a:r>
            <a:r>
              <a:rPr sz="18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non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00"/>
              </a:lnSpc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disponibles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(télé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phone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fatigue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drogues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800" dirty="0">
              <a:latin typeface="Arial"/>
              <a:ea typeface="Arial"/>
              <a:cs typeface="Arial"/>
            </a:endParaRPr>
          </a:p>
          <a:p>
            <a:pPr marL="824230" indent="-151764" algn="l" rtl="0" eaLnBrk="0">
              <a:lnSpc>
                <a:spcPct val="111000"/>
              </a:lnSpc>
              <a:spcBef>
                <a:spcPts val="250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800" kern="0" spc="3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Informations</a:t>
            </a:r>
            <a:r>
              <a:rPr sz="18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</a:t>
            </a:r>
            <a:r>
              <a:rPr sz="1800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létat</a:t>
            </a:r>
            <a:r>
              <a:rPr sz="18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infrastructures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manquantes</a:t>
            </a:r>
            <a:endParaRPr sz="1800" dirty="0">
              <a:latin typeface="Arial"/>
              <a:ea typeface="Arial"/>
              <a:cs typeface="Arial"/>
            </a:endParaRPr>
          </a:p>
          <a:p>
            <a:pPr marL="672465" algn="l" rtl="0" eaLnBrk="0">
              <a:lnSpc>
                <a:spcPts val="2285"/>
              </a:lnSpc>
              <a:spcBef>
                <a:spcPts val="254"/>
              </a:spcBef>
              <a:tabLst/>
            </a:pP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Causalit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vs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corr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lation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complexit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endParaRPr sz="1800" dirty="0">
              <a:latin typeface="Arial"/>
              <a:ea typeface="Arial"/>
              <a:cs typeface="Arial"/>
            </a:endParaRPr>
          </a:p>
          <a:p>
            <a:pPr marL="824864" algn="l" rtl="0" eaLnBrk="0">
              <a:lnSpc>
                <a:spcPts val="2285"/>
              </a:lnSpc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sans</a:t>
            </a:r>
            <a:r>
              <a:rPr sz="18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rimentation</a:t>
            </a:r>
            <a:r>
              <a:rPr sz="18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ôlée</a:t>
            </a:r>
            <a:endParaRPr sz="1800" dirty="0">
              <a:latin typeface="Arial"/>
              <a:ea typeface="Arial"/>
              <a:cs typeface="Arial"/>
            </a:endParaRPr>
          </a:p>
          <a:p>
            <a:pPr marL="824230" indent="-151764" algn="l" rtl="0" eaLnBrk="0">
              <a:lnSpc>
                <a:spcPct val="108000"/>
              </a:lnSpc>
              <a:spcBef>
                <a:spcPts val="317"/>
              </a:spcBef>
              <a:tabLst/>
            </a:pP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Donn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1800" kern="0" spc="4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été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orologiques</a:t>
            </a:r>
            <a:r>
              <a:rPr sz="1800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agr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égé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       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sans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granular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ité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suffisante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6413459" y="1650982"/>
            <a:ext cx="5109209" cy="3790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3400" algn="l" rtl="0" eaLnBrk="0">
              <a:lnSpc>
                <a:spcPct val="80000"/>
              </a:lnSpc>
              <a:tabLst>
                <a:tab pos="666750" algn="l"/>
              </a:tabLst>
            </a:pPr>
            <a:r>
              <a:rPr sz="2700" b="1" kern="0" spc="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-40" dirty="0">
                <a:solidFill>
                  <a:srgbClr val="E05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Pistes futures</a:t>
            </a:r>
            <a:endParaRPr sz="2700" dirty="0">
              <a:latin typeface="Arial"/>
              <a:ea typeface="Arial"/>
              <a:cs typeface="Arial"/>
            </a:endParaRPr>
          </a:p>
          <a:p>
            <a:pPr marL="819150" indent="-152400" algn="l" rtl="0" eaLnBrk="0">
              <a:lnSpc>
                <a:spcPct val="110000"/>
              </a:lnSpc>
              <a:spcBef>
                <a:spcPts val="965"/>
              </a:spcBef>
              <a:tabLst/>
            </a:pP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800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nt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gration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donn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mographiques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 socio-economiques</a:t>
            </a:r>
            <a:endParaRPr sz="1800" dirty="0">
              <a:latin typeface="Arial"/>
              <a:ea typeface="Arial"/>
              <a:cs typeface="Arial"/>
            </a:endParaRPr>
          </a:p>
          <a:p>
            <a:pPr marL="819150" indent="-152400" algn="l" rtl="0" eaLnBrk="0">
              <a:lnSpc>
                <a:spcPct val="109000"/>
              </a:lnSpc>
              <a:spcBef>
                <a:spcPts val="141"/>
              </a:spcBef>
              <a:tabLst/>
            </a:pP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·Dé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veloppement</a:t>
            </a:r>
            <a:r>
              <a:rPr sz="1800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800" kern="0" spc="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è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1800" kern="0" spc="3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dictifs</a:t>
            </a:r>
            <a:r>
              <a:rPr sz="1800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temps</a:t>
            </a:r>
            <a:r>
              <a:rPr sz="1800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</a:t>
            </a:r>
            <a:endParaRPr sz="1800" dirty="0">
              <a:latin typeface="Arial"/>
              <a:ea typeface="Arial"/>
              <a:cs typeface="Arial"/>
            </a:endParaRPr>
          </a:p>
          <a:p>
            <a:pPr marL="819150" indent="-152400" algn="l" rtl="0" eaLnBrk="0">
              <a:lnSpc>
                <a:spcPct val="108000"/>
              </a:lnSpc>
              <a:spcBef>
                <a:spcPts val="285"/>
              </a:spcBef>
              <a:tabLst/>
            </a:pP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8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Analyse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impact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infrastructures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cifiques</a:t>
            </a:r>
            <a:endParaRPr sz="1800" dirty="0">
              <a:latin typeface="Arial"/>
              <a:ea typeface="Arial"/>
              <a:cs typeface="Arial"/>
            </a:endParaRPr>
          </a:p>
          <a:p>
            <a:pPr marL="819150" indent="-152400" algn="l" rtl="0" eaLnBrk="0">
              <a:lnSpc>
                <a:spcPct val="110000"/>
              </a:lnSpc>
              <a:spcBef>
                <a:spcPts val="198"/>
              </a:spcBef>
              <a:tabLst/>
            </a:pP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tude</a:t>
            </a:r>
            <a:r>
              <a:rPr sz="18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8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lefficacit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18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campagnes</a:t>
            </a:r>
            <a:r>
              <a:rPr sz="18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vention</a:t>
            </a:r>
            <a:endParaRPr sz="1800" dirty="0">
              <a:latin typeface="Arial"/>
              <a:ea typeface="Arial"/>
              <a:cs typeface="Arial"/>
            </a:endParaRPr>
          </a:p>
          <a:p>
            <a:pPr marL="819150" indent="-152400" algn="l" rtl="0" eaLnBrk="0">
              <a:lnSpc>
                <a:spcPct val="117000"/>
              </a:lnSpc>
              <a:spcBef>
                <a:spcPts val="129"/>
              </a:spcBef>
              <a:tabLst/>
            </a:pP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Analyse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donn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hicules        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connect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pic>
        <p:nvPicPr>
          <p:cNvPr id="256" name="picture 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26159" y="1663682"/>
            <a:ext cx="520720" cy="5587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2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5660" y="1409731"/>
            <a:ext cx="4502139" cy="1339847"/>
          </a:xfrm>
          <a:prstGeom prst="rect">
            <a:avLst/>
          </a:prstGeom>
        </p:spPr>
      </p:pic>
      <p:sp>
        <p:nvSpPr>
          <p:cNvPr id="262" name="textbox 262"/>
          <p:cNvSpPr/>
          <p:nvPr/>
        </p:nvSpPr>
        <p:spPr>
          <a:xfrm>
            <a:off x="641400" y="2707312"/>
            <a:ext cx="7303769" cy="2588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7665" algn="l" rtl="0" eaLnBrk="0">
              <a:lnSpc>
                <a:spcPts val="2989"/>
              </a:lnSpc>
              <a:tabLst/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Notre</a:t>
            </a:r>
            <a:r>
              <a:rPr sz="23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analyse</a:t>
            </a:r>
            <a:r>
              <a:rPr sz="23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approfondie</a:t>
            </a:r>
            <a:r>
              <a:rPr sz="23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3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montre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</a:t>
            </a:r>
            <a:r>
              <a:rPr sz="23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chaque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"/>
              </a:spcBef>
              <a:tabLst/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statistique</a:t>
            </a:r>
            <a:r>
              <a:rPr sz="2300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repr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sente</a:t>
            </a:r>
            <a:r>
              <a:rPr sz="2300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une</a:t>
            </a:r>
            <a:r>
              <a:rPr sz="23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opportunit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3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3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comprendre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2300" dirty="0">
              <a:latin typeface="Arial"/>
              <a:ea typeface="Arial"/>
              <a:cs typeface="Arial"/>
            </a:endParaRPr>
          </a:p>
          <a:p>
            <a:pPr marL="564515" algn="l" rtl="0" eaLnBrk="0">
              <a:lnSpc>
                <a:spcPts val="2976"/>
              </a:lnSpc>
              <a:tabLst/>
            </a:pPr>
            <a:r>
              <a:rPr sz="2300" kern="0" spc="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300" kern="0" spc="45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2300" kern="0" spc="10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300" kern="0" spc="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venir</a:t>
            </a:r>
            <a:r>
              <a:rPr sz="2300" kern="0" spc="32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300" kern="0" spc="10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300" kern="0" spc="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ultinement</a:t>
            </a:r>
            <a:r>
              <a:rPr sz="2300" kern="0" spc="10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300" kern="0" spc="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2300" kern="0" spc="34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sauver</a:t>
            </a:r>
            <a:r>
              <a:rPr sz="2300" kern="0" spc="32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2300" kern="0" spc="30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vies</a:t>
            </a:r>
            <a:r>
              <a:rPr sz="2300" kern="0" spc="100" dirty="0">
                <a:solidFill>
                  <a:srgbClr val="102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4965" algn="l" rtl="0" eaLnBrk="0">
              <a:lnSpc>
                <a:spcPts val="2989"/>
              </a:lnSpc>
              <a:spcBef>
                <a:spcPts val="701"/>
              </a:spcBef>
              <a:tabLst/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L'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exploitation</a:t>
            </a:r>
            <a:r>
              <a:rPr sz="23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rigoureuse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donn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est</a:t>
            </a:r>
            <a:r>
              <a:rPr sz="23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outil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ts val="2812"/>
              </a:lnSpc>
              <a:tabLst/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puissant</a:t>
            </a:r>
            <a:r>
              <a:rPr sz="23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pour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é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clairer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cisions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construire</a:t>
            </a: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440814" algn="l" rtl="0" eaLnBrk="0">
              <a:lnSpc>
                <a:spcPts val="3026"/>
              </a:lnSpc>
              <a:tabLst/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avenir</a:t>
            </a:r>
            <a:r>
              <a:rPr sz="23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routier</a:t>
            </a:r>
            <a:r>
              <a:rPr sz="23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plus</a:t>
            </a:r>
            <a:r>
              <a:rPr sz="23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û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23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pour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tous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sp>
        <p:nvSpPr>
          <p:cNvPr id="264" name="rect 264"/>
          <p:cNvSpPr/>
          <p:nvPr/>
        </p:nvSpPr>
        <p:spPr>
          <a:xfrm>
            <a:off x="8331159" y="2546375"/>
            <a:ext cx="3181380" cy="2876519"/>
          </a:xfrm>
          <a:prstGeom prst="rect">
            <a:avLst/>
          </a:prstGeom>
          <a:solidFill>
            <a:srgbClr val="F467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" name="textbox 266"/>
          <p:cNvSpPr/>
          <p:nvPr/>
        </p:nvSpPr>
        <p:spPr>
          <a:xfrm>
            <a:off x="2038360" y="489829"/>
            <a:ext cx="8101330" cy="998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39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Chaque</a:t>
            </a:r>
            <a:r>
              <a:rPr sz="3900" b="1" kern="0" spc="19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1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point</a:t>
            </a:r>
            <a:r>
              <a:rPr sz="3900" b="1" kern="0" spc="-1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de donnée est</a:t>
            </a:r>
            <a:r>
              <a:rPr sz="3900" b="1" kern="0" spc="21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120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une vie</a:t>
            </a:r>
            <a:endParaRPr sz="3900" dirty="0">
              <a:latin typeface="Arial"/>
              <a:ea typeface="Arial"/>
              <a:cs typeface="Arial"/>
            </a:endParaRPr>
          </a:p>
          <a:p>
            <a:pPr marL="1402714" algn="l" rtl="0" eaLnBrk="0">
              <a:lnSpc>
                <a:spcPct val="82000"/>
              </a:lnSpc>
              <a:spcBef>
                <a:spcPts val="23"/>
              </a:spcBef>
              <a:tabLst/>
            </a:pPr>
            <a:r>
              <a:rPr sz="3900" b="1" kern="0" spc="-6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potentiellement sauv</a:t>
            </a:r>
            <a:r>
              <a:rPr sz="3900" b="1" kern="0" spc="-70" dirty="0">
                <a:solidFill>
                  <a:srgbClr val="203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ée</a:t>
            </a:r>
            <a:endParaRPr sz="3900" dirty="0">
              <a:latin typeface="Arial"/>
              <a:ea typeface="Arial"/>
              <a:cs typeface="Arial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8623259" y="2886216"/>
            <a:ext cx="2615564" cy="229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5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9000"/>
              </a:lnSpc>
              <a:tabLst/>
            </a:pP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APPEL</a:t>
            </a: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À</a:t>
            </a:r>
            <a:r>
              <a:rPr sz="1700" b="1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LACTION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84000"/>
              </a:lnSpc>
              <a:spcBef>
                <a:spcPts val="452"/>
              </a:spcBef>
              <a:tabLst/>
            </a:pP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Ensemble,transformo</a:t>
            </a: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ns ces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ts val="2014"/>
              </a:lnSpc>
              <a:spcBef>
                <a:spcPts val="68"/>
              </a:spcBef>
              <a:tabLst/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insights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actions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concr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è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14"/>
              </a:lnSpc>
              <a:tabLst/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pour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</a:t>
            </a:r>
            <a:r>
              <a:rPr sz="1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nos</a:t>
            </a:r>
            <a:r>
              <a:rPr sz="1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routes</a:t>
            </a:r>
            <a:r>
              <a:rPr sz="15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soient</a:t>
            </a:r>
            <a:endParaRPr sz="1500" dirty="0">
              <a:latin typeface="Arial"/>
              <a:ea typeface="Arial"/>
              <a:cs typeface="Arial"/>
            </a:endParaRPr>
          </a:p>
          <a:p>
            <a:pPr marL="266700" algn="l" rtl="0" eaLnBrk="0">
              <a:lnSpc>
                <a:spcPts val="2112"/>
              </a:lnSpc>
              <a:spcBef>
                <a:spcPts val="21"/>
              </a:spcBef>
              <a:tabLst/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plus</a:t>
            </a:r>
            <a:r>
              <a:rPr sz="1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</a:t>
            </a:r>
            <a:r>
              <a:rPr sz="15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lieu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trag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die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9850" indent="88264" algn="l" rtl="0" eaLnBrk="0">
              <a:lnSpc>
                <a:spcPct val="117000"/>
              </a:lnSpc>
              <a:spcBef>
                <a:spcPts val="1"/>
              </a:spcBef>
              <a:tabLst/>
            </a:pP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Agissons maintenant</a:t>
            </a:r>
            <a:r>
              <a:rPr sz="1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pour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ger</a:t>
            </a:r>
            <a:r>
              <a:rPr sz="15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nos</a:t>
            </a:r>
            <a:r>
              <a:rPr sz="15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communaut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és.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3124179" y="6450355"/>
            <a:ext cx="5944870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03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Analyse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Statistique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Avanc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é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Accidents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aux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Etats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Unis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Janvier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2026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272" name="picture 2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44939" y="5340324"/>
            <a:ext cx="419160" cy="406405"/>
          </a:xfrm>
          <a:prstGeom prst="rect">
            <a:avLst/>
          </a:prstGeom>
        </p:spPr>
      </p:pic>
      <p:pic>
        <p:nvPicPr>
          <p:cNvPr id="274" name="picture 2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473939" y="3689329"/>
            <a:ext cx="355640" cy="4000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2026-01-15T19:42:23Z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2026-01-15T19:42:31</vt:filetime>
  </property>
  <property fmtid="{D5CDD505-2E9C-101B-9397-08002B2CF9AE}" pid="4" name="UsrData">
    <vt:lpwstr>6968d29c1b46a00001a77a8awl</vt:lpwstr>
  </property>
</Properties>
</file>